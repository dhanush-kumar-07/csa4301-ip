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93" r:id="rId2"/>
    <p:sldId id="346" r:id="rId3"/>
    <p:sldId id="342" r:id="rId4"/>
    <p:sldId id="347" r:id="rId5"/>
    <p:sldId id="341" r:id="rId6"/>
    <p:sldId id="348" r:id="rId7"/>
    <p:sldId id="343" r:id="rId8"/>
    <p:sldId id="344" r:id="rId9"/>
    <p:sldId id="345" r:id="rId10"/>
    <p:sldId id="353" r:id="rId11"/>
    <p:sldId id="349" r:id="rId12"/>
    <p:sldId id="32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Y PC" initials="MP" lastIdx="1" clrIdx="0">
    <p:extLst>
      <p:ext uri="{19B8F6BF-5375-455C-9EA6-DF929625EA0E}">
        <p15:presenceInfo xmlns:p15="http://schemas.microsoft.com/office/powerpoint/2012/main" userId="3c3b9e9f004cd9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3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04014-760E-492D-902D-5F160FD3F538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37D12-B557-4461-AFE2-299B036C7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49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37D12-B557-4461-AFE2-299B036C70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7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37D12-B557-4461-AFE2-299B036C70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8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jpe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jpe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e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jpe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jpe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3">
            <a:extLst>
              <a:ext uri="{FF2B5EF4-FFF2-40B4-BE49-F238E27FC236}">
                <a16:creationId xmlns:a16="http://schemas.microsoft.com/office/drawing/2014/main" id="{C6A8C76A-EEF7-C31D-0346-281800A1ACF2}"/>
              </a:ext>
            </a:extLst>
          </p:cNvPr>
          <p:cNvSpPr/>
          <p:nvPr/>
        </p:nvSpPr>
        <p:spPr>
          <a:xfrm>
            <a:off x="3861578" y="1806637"/>
            <a:ext cx="960120" cy="960120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0353" y="2713484"/>
            <a:ext cx="10800080" cy="1470025"/>
          </a:xfrm>
        </p:spPr>
        <p:txBody>
          <a:bodyPr>
            <a:noAutofit/>
          </a:bodyPr>
          <a:lstStyle/>
          <a:p>
            <a:r>
              <a:rPr lang="en-US" sz="4000" b="1" dirty="0" err="1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HomeChef</a:t>
            </a:r>
            <a:br>
              <a:rPr lang="en-US" sz="2000" b="1" dirty="0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</a:b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Homemade Foods — A Digital Marketplace for Homemade Food Products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353" y="4147155"/>
            <a:ext cx="10368046" cy="1001787"/>
          </a:xfrm>
        </p:spPr>
        <p:txBody>
          <a:bodyPr>
            <a:noAutofit/>
          </a:bodyPr>
          <a:lstStyle/>
          <a:p>
            <a:pPr lvl="0"/>
            <a:r>
              <a:rPr lang="en-IN" sz="2700" b="1" dirty="0">
                <a:solidFill>
                  <a:srgbClr val="8C3A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CSA4301-INTERNET PROGRAMMING</a:t>
            </a:r>
            <a:endParaRPr sz="2700" b="1" dirty="0">
              <a:solidFill>
                <a:srgbClr val="8C3A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A4B18A-E8B5-496A-8EB1-E1FD47566A84}"/>
              </a:ext>
            </a:extLst>
          </p:cNvPr>
          <p:cNvSpPr txBox="1"/>
          <p:nvPr/>
        </p:nvSpPr>
        <p:spPr>
          <a:xfrm>
            <a:off x="7551174" y="5090356"/>
            <a:ext cx="43950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K.R.Jeevan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Balaji192471032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Hanuma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prabhath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192411198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S. Uday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192311185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Dhanush kumar. R -192411215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760FA-E6EE-1179-1103-180A00C97EB9}"/>
              </a:ext>
            </a:extLst>
          </p:cNvPr>
          <p:cNvSpPr txBox="1"/>
          <p:nvPr/>
        </p:nvSpPr>
        <p:spPr>
          <a:xfrm>
            <a:off x="551115" y="5265555"/>
            <a:ext cx="2310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Marie Claude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icons/chef_hat.png">
            <a:extLst>
              <a:ext uri="{FF2B5EF4-FFF2-40B4-BE49-F238E27FC236}">
                <a16:creationId xmlns:a16="http://schemas.microsoft.com/office/drawing/2014/main" id="{952FB5CF-EABC-3A61-C513-1F1EA5555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007" y="2097609"/>
            <a:ext cx="499262" cy="4992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6FD95C-8B7B-95F9-82AD-4B38B1D2D564}"/>
              </a:ext>
            </a:extLst>
          </p:cNvPr>
          <p:cNvSpPr txBox="1"/>
          <p:nvPr/>
        </p:nvSpPr>
        <p:spPr>
          <a:xfrm>
            <a:off x="2952393" y="378015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PROGRAMMING CAPSTONE PROJECT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5950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BC40-D3F1-8B58-8983-D950550E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4EC43-515B-3709-0B9E-67CA2F6D9D0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3" y="166036"/>
            <a:ext cx="983767" cy="11242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0B3723-BB1A-6365-A9ED-92EFDCF24C3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749" y="135558"/>
            <a:ext cx="1403144" cy="106590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DAF58CB1-60B9-BCBD-8D5E-5826C2C612EB}"/>
              </a:ext>
            </a:extLst>
          </p:cNvPr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C8FC304-1F79-1885-64A2-B53E58CC2165}"/>
              </a:ext>
            </a:extLst>
          </p:cNvPr>
          <p:cNvSpPr/>
          <p:nvPr/>
        </p:nvSpPr>
        <p:spPr>
          <a:xfrm>
            <a:off x="457200" y="12801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HomeChef is a web-based platform that lets customers discover and purchase homemade food products online, backed by a dedicated interface for administrators to manage the marketplace.</a:t>
            </a:r>
            <a:endParaRPr lang="en-US" sz="15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D03FCC71-1A9A-D036-C928-00E3B91C3F9A}"/>
              </a:ext>
            </a:extLst>
          </p:cNvPr>
          <p:cNvSpPr/>
          <p:nvPr/>
        </p:nvSpPr>
        <p:spPr>
          <a:xfrm>
            <a:off x="599454" y="2730399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0" descr="icons/home_icon.png">
            <a:extLst>
              <a:ext uri="{FF2B5EF4-FFF2-40B4-BE49-F238E27FC236}">
                <a16:creationId xmlns:a16="http://schemas.microsoft.com/office/drawing/2014/main" id="{C88E2E74-4232-FAEF-2028-841367B43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82" y="2840127"/>
            <a:ext cx="237744" cy="237744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472F5CA4-B3A3-9A4E-BE3E-5293D8303791}"/>
              </a:ext>
            </a:extLst>
          </p:cNvPr>
          <p:cNvSpPr/>
          <p:nvPr/>
        </p:nvSpPr>
        <p:spPr>
          <a:xfrm>
            <a:off x="1188720" y="2715768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 for homemade food products</a:t>
            </a:r>
            <a:endParaRPr lang="en-US" sz="135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A519C11A-E3A4-124A-0CD4-7FCD7601214C}"/>
              </a:ext>
            </a:extLst>
          </p:cNvPr>
          <p:cNvSpPr/>
          <p:nvPr/>
        </p:nvSpPr>
        <p:spPr>
          <a:xfrm>
            <a:off x="599454" y="3333903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icons/browse.png">
            <a:extLst>
              <a:ext uri="{FF2B5EF4-FFF2-40B4-BE49-F238E27FC236}">
                <a16:creationId xmlns:a16="http://schemas.microsoft.com/office/drawing/2014/main" id="{C29C30ED-3202-F333-EEC0-9DD4D0529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82" y="3443631"/>
            <a:ext cx="237744" cy="237744"/>
          </a:xfrm>
          <a:prstGeom prst="rect">
            <a:avLst/>
          </a:prstGeom>
        </p:spPr>
      </p:pic>
      <p:sp>
        <p:nvSpPr>
          <p:cNvPr id="23" name="Text 5">
            <a:extLst>
              <a:ext uri="{FF2B5EF4-FFF2-40B4-BE49-F238E27FC236}">
                <a16:creationId xmlns:a16="http://schemas.microsoft.com/office/drawing/2014/main" id="{AB32FE3E-6133-6807-C572-00072A387FB4}"/>
              </a:ext>
            </a:extLst>
          </p:cNvPr>
          <p:cNvSpPr/>
          <p:nvPr/>
        </p:nvSpPr>
        <p:spPr>
          <a:xfrm>
            <a:off x="1188720" y="3319272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product discovery and browsing</a:t>
            </a:r>
            <a:endParaRPr lang="en-US" sz="135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AD800FB0-A534-29A4-6ED9-0D85F7A7C97F}"/>
              </a:ext>
            </a:extLst>
          </p:cNvPr>
          <p:cNvSpPr/>
          <p:nvPr/>
        </p:nvSpPr>
        <p:spPr>
          <a:xfrm>
            <a:off x="599454" y="3937407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2" descr="icons/cart.png">
            <a:extLst>
              <a:ext uri="{FF2B5EF4-FFF2-40B4-BE49-F238E27FC236}">
                <a16:creationId xmlns:a16="http://schemas.microsoft.com/office/drawing/2014/main" id="{6E17F453-8B8E-A2FE-698D-DF993D981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82" y="4047135"/>
            <a:ext cx="237744" cy="237744"/>
          </a:xfrm>
          <a:prstGeom prst="rect">
            <a:avLst/>
          </a:prstGeom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46BF5164-39A1-2580-A658-646526CA639B}"/>
              </a:ext>
            </a:extLst>
          </p:cNvPr>
          <p:cNvSpPr/>
          <p:nvPr/>
        </p:nvSpPr>
        <p:spPr>
          <a:xfrm>
            <a:off x="1188720" y="3922776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shopping interface</a:t>
            </a:r>
            <a:endParaRPr lang="en-US" sz="135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15E903B9-69DB-23FC-34DF-8FE18500D12F}"/>
              </a:ext>
            </a:extLst>
          </p:cNvPr>
          <p:cNvSpPr/>
          <p:nvPr/>
        </p:nvSpPr>
        <p:spPr>
          <a:xfrm>
            <a:off x="599454" y="4540911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3" descr="icons/admin.png">
            <a:extLst>
              <a:ext uri="{FF2B5EF4-FFF2-40B4-BE49-F238E27FC236}">
                <a16:creationId xmlns:a16="http://schemas.microsoft.com/office/drawing/2014/main" id="{E536498F-F73A-4CA9-BAF4-2C74ECF8D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82" y="4650639"/>
            <a:ext cx="237744" cy="237744"/>
          </a:xfrm>
          <a:prstGeom prst="rect">
            <a:avLst/>
          </a:prstGeom>
        </p:spPr>
      </p:pic>
      <p:sp>
        <p:nvSpPr>
          <p:cNvPr id="35" name="Text 9">
            <a:extLst>
              <a:ext uri="{FF2B5EF4-FFF2-40B4-BE49-F238E27FC236}">
                <a16:creationId xmlns:a16="http://schemas.microsoft.com/office/drawing/2014/main" id="{91093BE2-25E7-1919-6683-35C7F62AF047}"/>
              </a:ext>
            </a:extLst>
          </p:cNvPr>
          <p:cNvSpPr/>
          <p:nvPr/>
        </p:nvSpPr>
        <p:spPr>
          <a:xfrm>
            <a:off x="1188720" y="452628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administrative interface</a:t>
            </a:r>
            <a:endParaRPr lang="en-US" sz="1350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6AF0E34E-4399-5FA5-A3B0-A649321D1F98}"/>
              </a:ext>
            </a:extLst>
          </p:cNvPr>
          <p:cNvSpPr/>
          <p:nvPr/>
        </p:nvSpPr>
        <p:spPr>
          <a:xfrm>
            <a:off x="599454" y="5144415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4" descr="icons/backend.png">
            <a:extLst>
              <a:ext uri="{FF2B5EF4-FFF2-40B4-BE49-F238E27FC236}">
                <a16:creationId xmlns:a16="http://schemas.microsoft.com/office/drawing/2014/main" id="{69942757-B841-FCFA-DB2A-8D5F318638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182" y="5254143"/>
            <a:ext cx="237744" cy="237744"/>
          </a:xfrm>
          <a:prstGeom prst="rect">
            <a:avLst/>
          </a:prstGeom>
        </p:spPr>
      </p:pic>
      <p:sp>
        <p:nvSpPr>
          <p:cNvPr id="41" name="Text 11">
            <a:extLst>
              <a:ext uri="{FF2B5EF4-FFF2-40B4-BE49-F238E27FC236}">
                <a16:creationId xmlns:a16="http://schemas.microsoft.com/office/drawing/2014/main" id="{6B48F44B-1A7B-3CD2-3FB2-1C2911A96166}"/>
              </a:ext>
            </a:extLst>
          </p:cNvPr>
          <p:cNvSpPr/>
          <p:nvPr/>
        </p:nvSpPr>
        <p:spPr>
          <a:xfrm>
            <a:off x="1188720" y="5129784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Internet Programming technologies</a:t>
            </a:r>
            <a:endParaRPr lang="en-US" sz="1350" dirty="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ABEE729B-8847-A8A5-4167-0F12A22B6714}"/>
              </a:ext>
            </a:extLst>
          </p:cNvPr>
          <p:cNvSpPr/>
          <p:nvPr/>
        </p:nvSpPr>
        <p:spPr>
          <a:xfrm>
            <a:off x="7167126" y="1290320"/>
            <a:ext cx="4445754" cy="4825354"/>
          </a:xfrm>
          <a:prstGeom prst="roundRect">
            <a:avLst>
              <a:gd name="adj" fmla="val 2308"/>
            </a:avLst>
          </a:prstGeom>
          <a:solidFill>
            <a:srgbClr val="F4EDE4"/>
          </a:solidFill>
          <a:ln w="12700">
            <a:solidFill>
              <a:srgbClr val="E4D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37B2C14C-BF62-9EE3-AC53-E8210899473F}"/>
              </a:ext>
            </a:extLst>
          </p:cNvPr>
          <p:cNvSpPr/>
          <p:nvPr/>
        </p:nvSpPr>
        <p:spPr>
          <a:xfrm>
            <a:off x="7451498" y="1440408"/>
            <a:ext cx="3932782" cy="479831"/>
          </a:xfrm>
          <a:prstGeom prst="roundRect">
            <a:avLst>
              <a:gd name="adj" fmla="val 14545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6CE1ED55-BD54-47CF-039E-77866378131D}"/>
              </a:ext>
            </a:extLst>
          </p:cNvPr>
          <p:cNvSpPr/>
          <p:nvPr/>
        </p:nvSpPr>
        <p:spPr>
          <a:xfrm>
            <a:off x="7451498" y="1440408"/>
            <a:ext cx="3932782" cy="479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HomeChef  |  Homemade Foods</a:t>
            </a:r>
            <a:endParaRPr lang="en-US" sz="1400" dirty="0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9377D7B3-8936-FBF2-343C-3F5B6EAD6F57}"/>
              </a:ext>
            </a:extLst>
          </p:cNvPr>
          <p:cNvSpPr/>
          <p:nvPr/>
        </p:nvSpPr>
        <p:spPr>
          <a:xfrm>
            <a:off x="7305852" y="2213910"/>
            <a:ext cx="1838148" cy="13522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B5F4E099-BBB2-A0EF-F064-26B6FAFE2133}"/>
              </a:ext>
            </a:extLst>
          </p:cNvPr>
          <p:cNvSpPr/>
          <p:nvPr/>
        </p:nvSpPr>
        <p:spPr>
          <a:xfrm>
            <a:off x="7922368" y="2338620"/>
            <a:ext cx="512972" cy="523452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3" name="Image 5" descr="icons/pickle.png">
            <a:extLst>
              <a:ext uri="{FF2B5EF4-FFF2-40B4-BE49-F238E27FC236}">
                <a16:creationId xmlns:a16="http://schemas.microsoft.com/office/drawing/2014/main" id="{A846E557-56C6-7E18-5292-7FFA01A2E5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1472" y="2458204"/>
            <a:ext cx="272195" cy="272195"/>
          </a:xfrm>
          <a:prstGeom prst="rect">
            <a:avLst/>
          </a:prstGeom>
        </p:spPr>
      </p:pic>
      <p:sp>
        <p:nvSpPr>
          <p:cNvPr id="55" name="Text 17">
            <a:extLst>
              <a:ext uri="{FF2B5EF4-FFF2-40B4-BE49-F238E27FC236}">
                <a16:creationId xmlns:a16="http://schemas.microsoft.com/office/drawing/2014/main" id="{1D2F72A3-20D9-D6B2-500D-BA57BA12DF78}"/>
              </a:ext>
            </a:extLst>
          </p:cNvPr>
          <p:cNvSpPr/>
          <p:nvPr/>
        </p:nvSpPr>
        <p:spPr>
          <a:xfrm>
            <a:off x="7305852" y="3034312"/>
            <a:ext cx="1838148" cy="348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Pickles</a:t>
            </a:r>
            <a:endParaRPr lang="en-US" sz="125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62158E96-A2E5-B148-B0E0-A4B44C9E78A0}"/>
              </a:ext>
            </a:extLst>
          </p:cNvPr>
          <p:cNvSpPr/>
          <p:nvPr/>
        </p:nvSpPr>
        <p:spPr>
          <a:xfrm>
            <a:off x="9454692" y="2213910"/>
            <a:ext cx="1838148" cy="13522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19">
            <a:extLst>
              <a:ext uri="{FF2B5EF4-FFF2-40B4-BE49-F238E27FC236}">
                <a16:creationId xmlns:a16="http://schemas.microsoft.com/office/drawing/2014/main" id="{840E6664-CEF1-9B5D-B666-A1AFC8F0589F}"/>
              </a:ext>
            </a:extLst>
          </p:cNvPr>
          <p:cNvSpPr/>
          <p:nvPr/>
        </p:nvSpPr>
        <p:spPr>
          <a:xfrm>
            <a:off x="10071208" y="2338620"/>
            <a:ext cx="512972" cy="523452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1" name="Image 6" descr="icons/snack.png">
            <a:extLst>
              <a:ext uri="{FF2B5EF4-FFF2-40B4-BE49-F238E27FC236}">
                <a16:creationId xmlns:a16="http://schemas.microsoft.com/office/drawing/2014/main" id="{18EB3F8A-5365-5A80-D2D4-8BA34DD4CE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0312" y="2458204"/>
            <a:ext cx="272195" cy="272195"/>
          </a:xfrm>
          <a:prstGeom prst="rect">
            <a:avLst/>
          </a:prstGeom>
        </p:spPr>
      </p:pic>
      <p:sp>
        <p:nvSpPr>
          <p:cNvPr id="63" name="Text 20">
            <a:extLst>
              <a:ext uri="{FF2B5EF4-FFF2-40B4-BE49-F238E27FC236}">
                <a16:creationId xmlns:a16="http://schemas.microsoft.com/office/drawing/2014/main" id="{659E14BA-1D4F-320B-08C2-5024A6BA8461}"/>
              </a:ext>
            </a:extLst>
          </p:cNvPr>
          <p:cNvSpPr/>
          <p:nvPr/>
        </p:nvSpPr>
        <p:spPr>
          <a:xfrm>
            <a:off x="9454692" y="3034312"/>
            <a:ext cx="1838148" cy="348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</a:t>
            </a:r>
            <a:endParaRPr lang="en-US" sz="1250" dirty="0"/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D3B91D1B-2529-DE72-A06A-E0EDB4C34C83}"/>
              </a:ext>
            </a:extLst>
          </p:cNvPr>
          <p:cNvSpPr/>
          <p:nvPr/>
        </p:nvSpPr>
        <p:spPr>
          <a:xfrm>
            <a:off x="7305852" y="3814110"/>
            <a:ext cx="1838148" cy="13522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10D43BFB-C5F3-FB42-DA71-EE41D7609C81}"/>
              </a:ext>
            </a:extLst>
          </p:cNvPr>
          <p:cNvSpPr/>
          <p:nvPr/>
        </p:nvSpPr>
        <p:spPr>
          <a:xfrm>
            <a:off x="7922368" y="3938820"/>
            <a:ext cx="512972" cy="523452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9" name="Image 7" descr="icons/spice.png">
            <a:extLst>
              <a:ext uri="{FF2B5EF4-FFF2-40B4-BE49-F238E27FC236}">
                <a16:creationId xmlns:a16="http://schemas.microsoft.com/office/drawing/2014/main" id="{C2DA71F9-4E57-73C2-AEE3-C510425C51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1472" y="4058404"/>
            <a:ext cx="272195" cy="272195"/>
          </a:xfrm>
          <a:prstGeom prst="rect">
            <a:avLst/>
          </a:prstGeom>
        </p:spPr>
      </p:pic>
      <p:sp>
        <p:nvSpPr>
          <p:cNvPr id="71" name="Text 23">
            <a:extLst>
              <a:ext uri="{FF2B5EF4-FFF2-40B4-BE49-F238E27FC236}">
                <a16:creationId xmlns:a16="http://schemas.microsoft.com/office/drawing/2014/main" id="{6C753D7F-0F49-43D6-639C-BB4FA670DC41}"/>
              </a:ext>
            </a:extLst>
          </p:cNvPr>
          <p:cNvSpPr/>
          <p:nvPr/>
        </p:nvSpPr>
        <p:spPr>
          <a:xfrm>
            <a:off x="7305852" y="4634512"/>
            <a:ext cx="1838148" cy="348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</a:t>
            </a:r>
            <a:endParaRPr lang="en-US" sz="1250" dirty="0"/>
          </a:p>
        </p:txBody>
      </p:sp>
      <p:sp>
        <p:nvSpPr>
          <p:cNvPr id="73" name="Shape 24">
            <a:extLst>
              <a:ext uri="{FF2B5EF4-FFF2-40B4-BE49-F238E27FC236}">
                <a16:creationId xmlns:a16="http://schemas.microsoft.com/office/drawing/2014/main" id="{747F7631-063E-FCD2-D8B6-80138F57CE95}"/>
              </a:ext>
            </a:extLst>
          </p:cNvPr>
          <p:cNvSpPr/>
          <p:nvPr/>
        </p:nvSpPr>
        <p:spPr>
          <a:xfrm>
            <a:off x="9454692" y="3814110"/>
            <a:ext cx="1838148" cy="13522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25">
            <a:extLst>
              <a:ext uri="{FF2B5EF4-FFF2-40B4-BE49-F238E27FC236}">
                <a16:creationId xmlns:a16="http://schemas.microsoft.com/office/drawing/2014/main" id="{551C4B2F-4EDD-0D3B-310B-F933F74C5E62}"/>
              </a:ext>
            </a:extLst>
          </p:cNvPr>
          <p:cNvSpPr/>
          <p:nvPr/>
        </p:nvSpPr>
        <p:spPr>
          <a:xfrm>
            <a:off x="10071208" y="3938820"/>
            <a:ext cx="512972" cy="523452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7" name="Image 8" descr="icons/sweet.png">
            <a:extLst>
              <a:ext uri="{FF2B5EF4-FFF2-40B4-BE49-F238E27FC236}">
                <a16:creationId xmlns:a16="http://schemas.microsoft.com/office/drawing/2014/main" id="{DF9D5D4B-3EA8-8761-8899-3088689C9C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80312" y="4058404"/>
            <a:ext cx="272195" cy="272195"/>
          </a:xfrm>
          <a:prstGeom prst="rect">
            <a:avLst/>
          </a:prstGeom>
        </p:spPr>
      </p:pic>
      <p:sp>
        <p:nvSpPr>
          <p:cNvPr id="79" name="Text 26">
            <a:extLst>
              <a:ext uri="{FF2B5EF4-FFF2-40B4-BE49-F238E27FC236}">
                <a16:creationId xmlns:a16="http://schemas.microsoft.com/office/drawing/2014/main" id="{FC15F5C0-E844-7569-E2C5-52842DA87DE0}"/>
              </a:ext>
            </a:extLst>
          </p:cNvPr>
          <p:cNvSpPr/>
          <p:nvPr/>
        </p:nvSpPr>
        <p:spPr>
          <a:xfrm>
            <a:off x="9454692" y="4634512"/>
            <a:ext cx="1838148" cy="348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Sweets</a:t>
            </a:r>
            <a:endParaRPr lang="en-US" sz="1250" dirty="0"/>
          </a:p>
        </p:txBody>
      </p:sp>
      <p:sp>
        <p:nvSpPr>
          <p:cNvPr id="81" name="Text 27">
            <a:extLst>
              <a:ext uri="{FF2B5EF4-FFF2-40B4-BE49-F238E27FC236}">
                <a16:creationId xmlns:a16="http://schemas.microsoft.com/office/drawing/2014/main" id="{89547767-535B-17D1-C51C-1498380AC6A7}"/>
              </a:ext>
            </a:extLst>
          </p:cNvPr>
          <p:cNvSpPr/>
          <p:nvPr/>
        </p:nvSpPr>
        <p:spPr>
          <a:xfrm>
            <a:off x="7451498" y="5519380"/>
            <a:ext cx="3932782" cy="305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homepage layout — categories match the implemented product catalog</a:t>
            </a:r>
            <a:endParaRPr lang="en-US" sz="900" dirty="0"/>
          </a:p>
        </p:txBody>
      </p:sp>
      <p:sp>
        <p:nvSpPr>
          <p:cNvPr id="83" name="Text 28">
            <a:extLst>
              <a:ext uri="{FF2B5EF4-FFF2-40B4-BE49-F238E27FC236}">
                <a16:creationId xmlns:a16="http://schemas.microsoft.com/office/drawing/2014/main" id="{9EA009F1-2893-5AF5-34D4-AC580FCCEBCE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HomeChef — Homemade Foods</a:t>
            </a:r>
            <a:endParaRPr lang="en-US" sz="1000" dirty="0"/>
          </a:p>
        </p:txBody>
      </p:sp>
      <p:sp>
        <p:nvSpPr>
          <p:cNvPr id="85" name="Text 29">
            <a:extLst>
              <a:ext uri="{FF2B5EF4-FFF2-40B4-BE49-F238E27FC236}">
                <a16:creationId xmlns:a16="http://schemas.microsoft.com/office/drawing/2014/main" id="{1AC3BA4A-D502-9B8C-7883-94721FC0FAAE}"/>
              </a:ext>
            </a:extLst>
          </p:cNvPr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04629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 &amp; Objectives</a:t>
            </a:r>
            <a:endParaRPr lang="en-US" sz="4000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3" y="166036"/>
            <a:ext cx="983767" cy="11242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74638"/>
            <a:ext cx="1320416" cy="109869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9165688" y="4897120"/>
            <a:ext cx="1644551" cy="172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2F24F431-E278-672B-D192-91DA40CD4261}"/>
              </a:ext>
            </a:extLst>
          </p:cNvPr>
          <p:cNvSpPr/>
          <p:nvPr/>
        </p:nvSpPr>
        <p:spPr>
          <a:xfrm>
            <a:off x="483361" y="1499037"/>
            <a:ext cx="5349240" cy="4937760"/>
          </a:xfrm>
          <a:prstGeom prst="roundRect">
            <a:avLst>
              <a:gd name="adj" fmla="val 2222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09BD5E5D-0DF3-58D8-DC4A-E58226019C3C}"/>
              </a:ext>
            </a:extLst>
          </p:cNvPr>
          <p:cNvSpPr/>
          <p:nvPr/>
        </p:nvSpPr>
        <p:spPr>
          <a:xfrm>
            <a:off x="803401" y="1819077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icons/problem.png">
            <a:extLst>
              <a:ext uri="{FF2B5EF4-FFF2-40B4-BE49-F238E27FC236}">
                <a16:creationId xmlns:a16="http://schemas.microsoft.com/office/drawing/2014/main" id="{51FA0B2A-8727-E1CA-9DD7-051159827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75" y="1950751"/>
            <a:ext cx="285293" cy="285293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B17059DA-D52C-E752-5E50-23A1F858E54A}"/>
              </a:ext>
            </a:extLst>
          </p:cNvPr>
          <p:cNvSpPr/>
          <p:nvPr/>
        </p:nvSpPr>
        <p:spPr>
          <a:xfrm>
            <a:off x="1534921" y="1864797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B254FBB-3CCE-479A-D5A3-793C553A930A}"/>
              </a:ext>
            </a:extLst>
          </p:cNvPr>
          <p:cNvSpPr/>
          <p:nvPr/>
        </p:nvSpPr>
        <p:spPr>
          <a:xfrm>
            <a:off x="849121" y="2596317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online visibility for homemade food products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discovering different homemade products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product and order management can be time-consuming</a:t>
            </a:r>
            <a:endParaRPr lang="en-US" sz="14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B2D1B6A6-EC39-A9A1-ACAA-5EE73A7D9013}"/>
              </a:ext>
            </a:extLst>
          </p:cNvPr>
          <p:cNvSpPr/>
          <p:nvPr/>
        </p:nvSpPr>
        <p:spPr>
          <a:xfrm>
            <a:off x="6198361" y="1499037"/>
            <a:ext cx="5349240" cy="4937760"/>
          </a:xfrm>
          <a:prstGeom prst="roundRect">
            <a:avLst>
              <a:gd name="adj" fmla="val 2222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3D66B529-C50B-2C46-7867-94CECD5B059B}"/>
              </a:ext>
            </a:extLst>
          </p:cNvPr>
          <p:cNvSpPr/>
          <p:nvPr/>
        </p:nvSpPr>
        <p:spPr>
          <a:xfrm>
            <a:off x="6518401" y="1819077"/>
            <a:ext cx="548640" cy="548640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1" descr="icons/target.png">
            <a:extLst>
              <a:ext uri="{FF2B5EF4-FFF2-40B4-BE49-F238E27FC236}">
                <a16:creationId xmlns:a16="http://schemas.microsoft.com/office/drawing/2014/main" id="{B956D216-E138-922C-BB97-998F8453D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075" y="1950751"/>
            <a:ext cx="285293" cy="285293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6D817488-2FAD-804A-09D6-25940ED0B7C1}"/>
              </a:ext>
            </a:extLst>
          </p:cNvPr>
          <p:cNvSpPr/>
          <p:nvPr/>
        </p:nvSpPr>
        <p:spPr>
          <a:xfrm>
            <a:off x="7249921" y="1864797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19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CE2F1630-323C-0344-D432-E4292FEBA39C}"/>
              </a:ext>
            </a:extLst>
          </p:cNvPr>
          <p:cNvSpPr/>
          <p:nvPr/>
        </p:nvSpPr>
        <p:spPr>
          <a:xfrm>
            <a:off x="6564121" y="2596317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easy-to-use homemade food marketplace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products into categories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customer and administrator functionality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product and order management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2197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B325-9144-EF91-E661-89847C85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Module 1:User Management Module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367F5-FF45-6A97-A6C8-B72D7671729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3" y="166036"/>
            <a:ext cx="983767" cy="11242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19EF1-B21C-861B-0B04-D9CB0A932C3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74638"/>
            <a:ext cx="1320416" cy="109869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20A289D-7D1D-76B5-455B-670F478942B7}"/>
              </a:ext>
            </a:extLst>
          </p:cNvPr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4CD6C97F-2515-DF26-A2A1-E7141549219C}"/>
              </a:ext>
            </a:extLst>
          </p:cNvPr>
          <p:cNvSpPr/>
          <p:nvPr/>
        </p:nvSpPr>
        <p:spPr>
          <a:xfrm>
            <a:off x="6903720" y="146304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F4EDE4"/>
          </a:solidFill>
          <a:ln w="12700">
            <a:solidFill>
              <a:srgbClr val="E4D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FF7514FC-DB44-ED44-462E-E50740956E3D}"/>
              </a:ext>
            </a:extLst>
          </p:cNvPr>
          <p:cNvSpPr/>
          <p:nvPr/>
        </p:nvSpPr>
        <p:spPr>
          <a:xfrm>
            <a:off x="7086600" y="1590040"/>
            <a:ext cx="4389120" cy="365760"/>
          </a:xfrm>
          <a:prstGeom prst="roundRect">
            <a:avLst>
              <a:gd name="adj" fmla="val 15000"/>
            </a:avLst>
          </a:prstGeom>
          <a:solidFill>
            <a:srgbClr val="E4D6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D4053186-2C31-7428-FE9E-DEF6D1751004}"/>
              </a:ext>
            </a:extLst>
          </p:cNvPr>
          <p:cNvSpPr/>
          <p:nvPr/>
        </p:nvSpPr>
        <p:spPr>
          <a:xfrm>
            <a:off x="7086600" y="1590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Screenshot</a:t>
            </a:r>
            <a:endParaRPr lang="en-US" sz="1100" dirty="0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4A21AF9C-E6E5-E83B-BED3-AAC1F9AF7B44}"/>
              </a:ext>
            </a:extLst>
          </p:cNvPr>
          <p:cNvSpPr/>
          <p:nvPr/>
        </p:nvSpPr>
        <p:spPr>
          <a:xfrm>
            <a:off x="8823960" y="2504440"/>
            <a:ext cx="1097280" cy="10972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Image 5" descr="icons/user_profile.png">
            <a:extLst>
              <a:ext uri="{FF2B5EF4-FFF2-40B4-BE49-F238E27FC236}">
                <a16:creationId xmlns:a16="http://schemas.microsoft.com/office/drawing/2014/main" id="{038F7126-C307-D00F-2789-9C129783F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7307" y="2767787"/>
            <a:ext cx="570586" cy="570586"/>
          </a:xfrm>
          <a:prstGeom prst="rect">
            <a:avLst/>
          </a:prstGeom>
        </p:spPr>
      </p:pic>
      <p:sp>
        <p:nvSpPr>
          <p:cNvPr id="51" name="Text 16">
            <a:extLst>
              <a:ext uri="{FF2B5EF4-FFF2-40B4-BE49-F238E27FC236}">
                <a16:creationId xmlns:a16="http://schemas.microsoft.com/office/drawing/2014/main" id="{B3752B10-C9CE-70D6-A7D5-D67B92D0EB45}"/>
              </a:ext>
            </a:extLst>
          </p:cNvPr>
          <p:cNvSpPr/>
          <p:nvPr/>
        </p:nvSpPr>
        <p:spPr>
          <a:xfrm>
            <a:off x="7132320" y="38303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user-flow diagram — replace with actual login/profile screenshots</a:t>
            </a:r>
            <a:endParaRPr lang="en-US" sz="1000" dirty="0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C5373650-2DF7-4C74-6100-1798BAFEEACF}"/>
              </a:ext>
            </a:extLst>
          </p:cNvPr>
          <p:cNvSpPr/>
          <p:nvPr/>
        </p:nvSpPr>
        <p:spPr>
          <a:xfrm>
            <a:off x="6903720" y="466344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432C115D-87E5-B8A5-6C25-4BA71A1D2726}"/>
              </a:ext>
            </a:extLst>
          </p:cNvPr>
          <p:cNvSpPr/>
          <p:nvPr/>
        </p:nvSpPr>
        <p:spPr>
          <a:xfrm>
            <a:off x="6903720" y="4892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50" dirty="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31273ABD-2FC1-E618-7879-A11BA9EFCEB9}"/>
              </a:ext>
            </a:extLst>
          </p:cNvPr>
          <p:cNvSpPr/>
          <p:nvPr/>
        </p:nvSpPr>
        <p:spPr>
          <a:xfrm>
            <a:off x="7891272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A52539B2-B3BB-D671-D12E-65E908E02854}"/>
              </a:ext>
            </a:extLst>
          </p:cNvPr>
          <p:cNvSpPr/>
          <p:nvPr/>
        </p:nvSpPr>
        <p:spPr>
          <a:xfrm>
            <a:off x="8092440" y="4892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35A80C83-E3C4-ED7E-3BF4-DBCF1A36CAE1}"/>
              </a:ext>
            </a:extLst>
          </p:cNvPr>
          <p:cNvSpPr/>
          <p:nvPr/>
        </p:nvSpPr>
        <p:spPr>
          <a:xfrm>
            <a:off x="9079992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14AB1135-B3CB-8C2E-165B-DF35ACE6498D}"/>
              </a:ext>
            </a:extLst>
          </p:cNvPr>
          <p:cNvSpPr/>
          <p:nvPr/>
        </p:nvSpPr>
        <p:spPr>
          <a:xfrm>
            <a:off x="9281160" y="4892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50" dirty="0"/>
          </a:p>
        </p:txBody>
      </p:sp>
      <p:sp>
        <p:nvSpPr>
          <p:cNvPr id="65" name="Text 23">
            <a:extLst>
              <a:ext uri="{FF2B5EF4-FFF2-40B4-BE49-F238E27FC236}">
                <a16:creationId xmlns:a16="http://schemas.microsoft.com/office/drawing/2014/main" id="{ECEE925A-9B57-1068-0118-83CE23A60756}"/>
              </a:ext>
            </a:extLst>
          </p:cNvPr>
          <p:cNvSpPr/>
          <p:nvPr/>
        </p:nvSpPr>
        <p:spPr>
          <a:xfrm>
            <a:off x="10268712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62224BEC-A8AB-3A2C-4A70-28519C6211C9}"/>
              </a:ext>
            </a:extLst>
          </p:cNvPr>
          <p:cNvSpPr/>
          <p:nvPr/>
        </p:nvSpPr>
        <p:spPr>
          <a:xfrm>
            <a:off x="10469880" y="4892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50" dirty="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EF18841E-CC34-62ED-D433-FE91A021DF04}"/>
              </a:ext>
            </a:extLst>
          </p:cNvPr>
          <p:cNvSpPr/>
          <p:nvPr/>
        </p:nvSpPr>
        <p:spPr>
          <a:xfrm>
            <a:off x="690372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6D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000" dirty="0"/>
          </a:p>
        </p:txBody>
      </p:sp>
      <p:sp>
        <p:nvSpPr>
          <p:cNvPr id="71" name="Text 26">
            <a:extLst>
              <a:ext uri="{FF2B5EF4-FFF2-40B4-BE49-F238E27FC236}">
                <a16:creationId xmlns:a16="http://schemas.microsoft.com/office/drawing/2014/main" id="{0DE61DE2-5C32-1929-CBB6-2281F8ABAED3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HomeChef — Homemade Foods</a:t>
            </a:r>
            <a:endParaRPr lang="en-US" sz="1000" dirty="0"/>
          </a:p>
        </p:txBody>
      </p:sp>
      <p:sp>
        <p:nvSpPr>
          <p:cNvPr id="73" name="Text 27">
            <a:extLst>
              <a:ext uri="{FF2B5EF4-FFF2-40B4-BE49-F238E27FC236}">
                <a16:creationId xmlns:a16="http://schemas.microsoft.com/office/drawing/2014/main" id="{EE22EEBE-C440-FAC6-C3DC-E06E8F557F4B}"/>
              </a:ext>
            </a:extLst>
          </p:cNvPr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A594F75-2591-4286-F4D2-E0D3C42BF073}"/>
              </a:ext>
            </a:extLst>
          </p:cNvPr>
          <p:cNvSpPr txBox="1"/>
          <p:nvPr/>
        </p:nvSpPr>
        <p:spPr>
          <a:xfrm>
            <a:off x="433426" y="177292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User registration and account creation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User login and authentication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Customer account management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User profile management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Secure access to user-specific features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Maintains customer information for other modules</a:t>
            </a:r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/>
              <a:t>Integrates with the Shopping &amp; Order Module for customer-related activities</a:t>
            </a:r>
          </a:p>
        </p:txBody>
      </p:sp>
    </p:spTree>
    <p:extLst>
      <p:ext uri="{BB962C8B-B14F-4D97-AF65-F5344CB8AC3E}">
        <p14:creationId xmlns:p14="http://schemas.microsoft.com/office/powerpoint/2010/main" val="148993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Module 2:Product &amp; Category Module</a:t>
            </a:r>
            <a:endParaRPr lang="en-US" sz="3200" dirty="0"/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3" y="166036"/>
            <a:ext cx="983767" cy="11242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74638"/>
            <a:ext cx="1320416" cy="109869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8">
            <a:extLst>
              <a:ext uri="{FF2B5EF4-FFF2-40B4-BE49-F238E27FC236}">
                <a16:creationId xmlns:a16="http://schemas.microsoft.com/office/drawing/2014/main" id="{3F97A722-DEDA-9DA7-8D16-F92C0BBD0CF6}"/>
              </a:ext>
            </a:extLst>
          </p:cNvPr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Categories</a:t>
            </a:r>
            <a:endParaRPr lang="en-US" sz="15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B7FA0A-D790-2BC6-53C3-45A1D9755E23}"/>
              </a:ext>
            </a:extLst>
          </p:cNvPr>
          <p:cNvSpPr/>
          <p:nvPr/>
        </p:nvSpPr>
        <p:spPr>
          <a:xfrm>
            <a:off x="548640" y="3977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279ED2E-2AB9-9045-3233-C11DEDEE242D}"/>
              </a:ext>
            </a:extLst>
          </p:cNvPr>
          <p:cNvSpPr/>
          <p:nvPr/>
        </p:nvSpPr>
        <p:spPr>
          <a:xfrm>
            <a:off x="685800" y="41605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icons/pickle.png">
            <a:extLst>
              <a:ext uri="{FF2B5EF4-FFF2-40B4-BE49-F238E27FC236}">
                <a16:creationId xmlns:a16="http://schemas.microsoft.com/office/drawing/2014/main" id="{BD23ACFC-F5AD-61FB-750F-FC4D47E2E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4" y="4292194"/>
            <a:ext cx="285293" cy="285293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D71F68DC-3B71-CB16-CCDD-8CB6625959A1}"/>
              </a:ext>
            </a:extLst>
          </p:cNvPr>
          <p:cNvSpPr/>
          <p:nvPr/>
        </p:nvSpPr>
        <p:spPr>
          <a:xfrm>
            <a:off x="1371600" y="3977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Pickles</a:t>
            </a:r>
            <a:endParaRPr lang="en-US" sz="13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A97F5C39-A243-04B4-E045-33D456F40F37}"/>
              </a:ext>
            </a:extLst>
          </p:cNvPr>
          <p:cNvSpPr/>
          <p:nvPr/>
        </p:nvSpPr>
        <p:spPr>
          <a:xfrm>
            <a:off x="3246120" y="3977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639F1354-655E-A429-F3ED-F8F4FD07711F}"/>
              </a:ext>
            </a:extLst>
          </p:cNvPr>
          <p:cNvSpPr/>
          <p:nvPr/>
        </p:nvSpPr>
        <p:spPr>
          <a:xfrm>
            <a:off x="3383280" y="41605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icons/snack.png">
            <a:extLst>
              <a:ext uri="{FF2B5EF4-FFF2-40B4-BE49-F238E27FC236}">
                <a16:creationId xmlns:a16="http://schemas.microsoft.com/office/drawing/2014/main" id="{5CB8F8A0-4B0B-5A94-B303-DC1DB71CA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4954" y="4292194"/>
            <a:ext cx="285293" cy="285293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8D193CF2-3EFA-D00A-6DCA-73BF741EF3F6}"/>
              </a:ext>
            </a:extLst>
          </p:cNvPr>
          <p:cNvSpPr/>
          <p:nvPr/>
        </p:nvSpPr>
        <p:spPr>
          <a:xfrm>
            <a:off x="4069080" y="3977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</a:t>
            </a:r>
            <a:endParaRPr lang="en-US" sz="13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E64FE718-FA83-CB2C-D467-9FD86F4037F7}"/>
              </a:ext>
            </a:extLst>
          </p:cNvPr>
          <p:cNvSpPr/>
          <p:nvPr/>
        </p:nvSpPr>
        <p:spPr>
          <a:xfrm>
            <a:off x="548640" y="50292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E72E012C-D03F-2378-577F-B282AEB27DF0}"/>
              </a:ext>
            </a:extLst>
          </p:cNvPr>
          <p:cNvSpPr/>
          <p:nvPr/>
        </p:nvSpPr>
        <p:spPr>
          <a:xfrm>
            <a:off x="685800" y="52120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icons/spice.png">
            <a:extLst>
              <a:ext uri="{FF2B5EF4-FFF2-40B4-BE49-F238E27FC236}">
                <a16:creationId xmlns:a16="http://schemas.microsoft.com/office/drawing/2014/main" id="{2262DD6C-F1B4-1F4A-8040-4FE1263120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74" y="5343754"/>
            <a:ext cx="285293" cy="285293"/>
          </a:xfrm>
          <a:prstGeom prst="rect">
            <a:avLst/>
          </a:prstGeom>
        </p:spPr>
      </p:pic>
      <p:sp>
        <p:nvSpPr>
          <p:cNvPr id="33" name="Text 17">
            <a:extLst>
              <a:ext uri="{FF2B5EF4-FFF2-40B4-BE49-F238E27FC236}">
                <a16:creationId xmlns:a16="http://schemas.microsoft.com/office/drawing/2014/main" id="{AC7984E5-88DB-E449-C229-521A0278C83B}"/>
              </a:ext>
            </a:extLst>
          </p:cNvPr>
          <p:cNvSpPr/>
          <p:nvPr/>
        </p:nvSpPr>
        <p:spPr>
          <a:xfrm>
            <a:off x="1371600" y="50292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</a:t>
            </a:r>
            <a:endParaRPr lang="en-US" sz="130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A1A05561-D233-F667-4863-F9E97996FEE5}"/>
              </a:ext>
            </a:extLst>
          </p:cNvPr>
          <p:cNvSpPr/>
          <p:nvPr/>
        </p:nvSpPr>
        <p:spPr>
          <a:xfrm>
            <a:off x="3246120" y="50292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ED45E762-EC80-62BB-60E7-AE90B44A4695}"/>
              </a:ext>
            </a:extLst>
          </p:cNvPr>
          <p:cNvSpPr/>
          <p:nvPr/>
        </p:nvSpPr>
        <p:spPr>
          <a:xfrm>
            <a:off x="3383280" y="52120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6" descr="icons/sweet.png">
            <a:extLst>
              <a:ext uri="{FF2B5EF4-FFF2-40B4-BE49-F238E27FC236}">
                <a16:creationId xmlns:a16="http://schemas.microsoft.com/office/drawing/2014/main" id="{3AD45292-D0DF-E1EB-BB28-38DEFCA331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4954" y="5343754"/>
            <a:ext cx="285293" cy="285293"/>
          </a:xfrm>
          <a:prstGeom prst="rect">
            <a:avLst/>
          </a:prstGeom>
        </p:spPr>
      </p:pic>
      <p:sp>
        <p:nvSpPr>
          <p:cNvPr id="41" name="Text 20">
            <a:extLst>
              <a:ext uri="{FF2B5EF4-FFF2-40B4-BE49-F238E27FC236}">
                <a16:creationId xmlns:a16="http://schemas.microsoft.com/office/drawing/2014/main" id="{A7FB126A-88B1-61AA-F3A7-6103FBC654E8}"/>
              </a:ext>
            </a:extLst>
          </p:cNvPr>
          <p:cNvSpPr/>
          <p:nvPr/>
        </p:nvSpPr>
        <p:spPr>
          <a:xfrm>
            <a:off x="4069080" y="50292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Sweets</a:t>
            </a:r>
            <a:endParaRPr lang="en-US" sz="1300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F8CDBCD8-BCA8-DA23-A655-AE67B39D06B2}"/>
              </a:ext>
            </a:extLst>
          </p:cNvPr>
          <p:cNvSpPr/>
          <p:nvPr/>
        </p:nvSpPr>
        <p:spPr>
          <a:xfrm>
            <a:off x="6959194" y="1463040"/>
            <a:ext cx="4754880" cy="4937760"/>
          </a:xfrm>
          <a:prstGeom prst="roundRect">
            <a:avLst>
              <a:gd name="adj" fmla="val 1923"/>
            </a:avLst>
          </a:prstGeom>
          <a:solidFill>
            <a:srgbClr val="F4EDE4"/>
          </a:solidFill>
          <a:ln w="12700">
            <a:solidFill>
              <a:srgbClr val="E4D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C38552E1-501C-C3DA-BD71-D742ABD398ED}"/>
              </a:ext>
            </a:extLst>
          </p:cNvPr>
          <p:cNvSpPr/>
          <p:nvPr/>
        </p:nvSpPr>
        <p:spPr>
          <a:xfrm>
            <a:off x="7142074" y="1645920"/>
            <a:ext cx="4389120" cy="365760"/>
          </a:xfrm>
          <a:prstGeom prst="roundRect">
            <a:avLst>
              <a:gd name="adj" fmla="val 15000"/>
            </a:avLst>
          </a:prstGeom>
          <a:solidFill>
            <a:srgbClr val="E4D6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09E733CF-7B51-AD68-CD7D-A72B1C1BC025}"/>
              </a:ext>
            </a:extLst>
          </p:cNvPr>
          <p:cNvSpPr/>
          <p:nvPr/>
        </p:nvSpPr>
        <p:spPr>
          <a:xfrm>
            <a:off x="7142074" y="1645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 / Category Screenshot</a:t>
            </a:r>
            <a:endParaRPr lang="en-US" sz="1050" dirty="0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66E23D0E-3A5F-81C9-3BB1-9D37D46B006E}"/>
              </a:ext>
            </a:extLst>
          </p:cNvPr>
          <p:cNvSpPr/>
          <p:nvPr/>
        </p:nvSpPr>
        <p:spPr>
          <a:xfrm>
            <a:off x="8879434" y="2743200"/>
            <a:ext cx="1097280" cy="10972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3" name="Image 7" descr="icons/products.png">
            <a:extLst>
              <a:ext uri="{FF2B5EF4-FFF2-40B4-BE49-F238E27FC236}">
                <a16:creationId xmlns:a16="http://schemas.microsoft.com/office/drawing/2014/main" id="{4371B941-FD58-FF19-0AF1-7E36407BCC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2781" y="3006547"/>
            <a:ext cx="570586" cy="570586"/>
          </a:xfrm>
          <a:prstGeom prst="rect">
            <a:avLst/>
          </a:prstGeom>
        </p:spPr>
      </p:pic>
      <p:sp>
        <p:nvSpPr>
          <p:cNvPr id="65" name="Text 25">
            <a:extLst>
              <a:ext uri="{FF2B5EF4-FFF2-40B4-BE49-F238E27FC236}">
                <a16:creationId xmlns:a16="http://schemas.microsoft.com/office/drawing/2014/main" id="{97AE0747-5E52-FCAA-38AC-01C8F7842E1A}"/>
              </a:ext>
            </a:extLst>
          </p:cNvPr>
          <p:cNvSpPr/>
          <p:nvPr/>
        </p:nvSpPr>
        <p:spPr>
          <a:xfrm>
            <a:off x="7279234" y="4160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panel with an actual product/category page screenshot from the project</a:t>
            </a:r>
            <a:endParaRPr lang="en-US" sz="105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53B1A0-446D-91C5-9F41-D08CB1C05F80}"/>
              </a:ext>
            </a:extLst>
          </p:cNvPr>
          <p:cNvSpPr txBox="1"/>
          <p:nvPr/>
        </p:nvSpPr>
        <p:spPr>
          <a:xfrm>
            <a:off x="559455" y="19725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Product listing and display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Product category organization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Product search functionality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Category-based product filtering</a:t>
            </a:r>
          </a:p>
        </p:txBody>
      </p:sp>
    </p:spTree>
    <p:extLst>
      <p:ext uri="{BB962C8B-B14F-4D97-AF65-F5344CB8AC3E}">
        <p14:creationId xmlns:p14="http://schemas.microsoft.com/office/powerpoint/2010/main" val="3778853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A958-ECD7-8E4B-0227-601F6306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Module 3:Shopping &amp; Order Module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9454D-BFDC-66BD-8645-7E4ABC31D99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3" y="166036"/>
            <a:ext cx="983767" cy="11242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7FFE50-E1C0-770C-ADA7-D4A6F8FE3F8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74638"/>
            <a:ext cx="1320416" cy="109869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12">
            <a:extLst>
              <a:ext uri="{FF2B5EF4-FFF2-40B4-BE49-F238E27FC236}">
                <a16:creationId xmlns:a16="http://schemas.microsoft.com/office/drawing/2014/main" id="{2B9F3946-127D-368E-E55A-EFD538400668}"/>
              </a:ext>
            </a:extLst>
          </p:cNvPr>
          <p:cNvSpPr/>
          <p:nvPr/>
        </p:nvSpPr>
        <p:spPr>
          <a:xfrm>
            <a:off x="6903720" y="146304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F4EDE4"/>
          </a:solidFill>
          <a:ln w="12700">
            <a:solidFill>
              <a:srgbClr val="E4D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F72B0784-115E-8347-D858-829894989684}"/>
              </a:ext>
            </a:extLst>
          </p:cNvPr>
          <p:cNvSpPr/>
          <p:nvPr/>
        </p:nvSpPr>
        <p:spPr>
          <a:xfrm>
            <a:off x="7086600" y="1645920"/>
            <a:ext cx="4389120" cy="365760"/>
          </a:xfrm>
          <a:prstGeom prst="roundRect">
            <a:avLst>
              <a:gd name="adj" fmla="val 15000"/>
            </a:avLst>
          </a:prstGeom>
          <a:solidFill>
            <a:srgbClr val="E4D6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C729A5BC-EF02-EC34-6843-9E3DF8159570}"/>
              </a:ext>
            </a:extLst>
          </p:cNvPr>
          <p:cNvSpPr/>
          <p:nvPr/>
        </p:nvSpPr>
        <p:spPr>
          <a:xfrm>
            <a:off x="7086600" y="1645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Screenshot</a:t>
            </a:r>
            <a:endParaRPr lang="en-US" sz="11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9D5DC649-2FB2-6A6D-B66C-EE7AE270F8E0}"/>
              </a:ext>
            </a:extLst>
          </p:cNvPr>
          <p:cNvSpPr/>
          <p:nvPr/>
        </p:nvSpPr>
        <p:spPr>
          <a:xfrm>
            <a:off x="8823960" y="2560320"/>
            <a:ext cx="1097280" cy="10972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5" descr="icons/cart.png">
            <a:extLst>
              <a:ext uri="{FF2B5EF4-FFF2-40B4-BE49-F238E27FC236}">
                <a16:creationId xmlns:a16="http://schemas.microsoft.com/office/drawing/2014/main" id="{F7CC1479-9F95-6946-D8B8-AD8CCD7BC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7307" y="2823667"/>
            <a:ext cx="570586" cy="570586"/>
          </a:xfrm>
          <a:prstGeom prst="rect">
            <a:avLst/>
          </a:prstGeom>
        </p:spPr>
      </p:pic>
      <p:sp>
        <p:nvSpPr>
          <p:cNvPr id="19" name="Text 16">
            <a:extLst>
              <a:ext uri="{FF2B5EF4-FFF2-40B4-BE49-F238E27FC236}">
                <a16:creationId xmlns:a16="http://schemas.microsoft.com/office/drawing/2014/main" id="{95C059C4-C233-4338-17F0-A1EEA2B6CBF2}"/>
              </a:ext>
            </a:extLst>
          </p:cNvPr>
          <p:cNvSpPr/>
          <p:nvPr/>
        </p:nvSpPr>
        <p:spPr>
          <a:xfrm>
            <a:off x="7132320" y="38862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shopping-flow diagram — replace with actual cart/order screenshots</a:t>
            </a:r>
            <a:endParaRPr lang="en-US" sz="10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D32E61C-8FF3-EE63-817D-E65A1BD60D85}"/>
              </a:ext>
            </a:extLst>
          </p:cNvPr>
          <p:cNvSpPr/>
          <p:nvPr/>
        </p:nvSpPr>
        <p:spPr>
          <a:xfrm>
            <a:off x="6903720" y="489204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C2FD056-6E93-1E26-D6F3-60E9E2CDA18B}"/>
              </a:ext>
            </a:extLst>
          </p:cNvPr>
          <p:cNvSpPr/>
          <p:nvPr/>
        </p:nvSpPr>
        <p:spPr>
          <a:xfrm>
            <a:off x="6903720" y="5120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15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7DEC20F2-E043-4CEE-9ADF-A2F37DDFDDD5}"/>
              </a:ext>
            </a:extLst>
          </p:cNvPr>
          <p:cNvSpPr/>
          <p:nvPr/>
        </p:nvSpPr>
        <p:spPr>
          <a:xfrm>
            <a:off x="7891272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A28630B1-7E50-8006-5F5C-FFB1FD89C764}"/>
              </a:ext>
            </a:extLst>
          </p:cNvPr>
          <p:cNvSpPr/>
          <p:nvPr/>
        </p:nvSpPr>
        <p:spPr>
          <a:xfrm>
            <a:off x="8092440" y="5120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5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85B223EF-08FB-552B-FDE5-A19ACA4BABBD}"/>
              </a:ext>
            </a:extLst>
          </p:cNvPr>
          <p:cNvSpPr/>
          <p:nvPr/>
        </p:nvSpPr>
        <p:spPr>
          <a:xfrm>
            <a:off x="9079992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90D10513-1209-90B8-5917-D7250A2CCFDA}"/>
              </a:ext>
            </a:extLst>
          </p:cNvPr>
          <p:cNvSpPr/>
          <p:nvPr/>
        </p:nvSpPr>
        <p:spPr>
          <a:xfrm>
            <a:off x="9281160" y="5120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150" dirty="0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ACB72295-F687-0872-831F-C7682516426A}"/>
              </a:ext>
            </a:extLst>
          </p:cNvPr>
          <p:cNvSpPr/>
          <p:nvPr/>
        </p:nvSpPr>
        <p:spPr>
          <a:xfrm>
            <a:off x="10268712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7A91ECC4-48F7-21D2-F1EC-72533CE6B482}"/>
              </a:ext>
            </a:extLst>
          </p:cNvPr>
          <p:cNvSpPr/>
          <p:nvPr/>
        </p:nvSpPr>
        <p:spPr>
          <a:xfrm>
            <a:off x="10469880" y="5120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5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F0EA8F8F-CA31-9838-4949-F1C99E99761C}"/>
              </a:ext>
            </a:extLst>
          </p:cNvPr>
          <p:cNvSpPr/>
          <p:nvPr/>
        </p:nvSpPr>
        <p:spPr>
          <a:xfrm>
            <a:off x="6903720" y="5577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6D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000" dirty="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F157B59F-C6AC-1CB2-5559-B44623D50730}"/>
              </a:ext>
            </a:extLst>
          </p:cNvPr>
          <p:cNvSpPr/>
          <p:nvPr/>
        </p:nvSpPr>
        <p:spPr>
          <a:xfrm>
            <a:off x="533400" y="2121211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0" descr="icons/browse.png">
            <a:extLst>
              <a:ext uri="{FF2B5EF4-FFF2-40B4-BE49-F238E27FC236}">
                <a16:creationId xmlns:a16="http://schemas.microsoft.com/office/drawing/2014/main" id="{0AAB9D45-E876-DA43-5E78-64E5F74CB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39" y="2226550"/>
            <a:ext cx="228234" cy="228234"/>
          </a:xfrm>
          <a:prstGeom prst="rect">
            <a:avLst/>
          </a:prstGeom>
        </p:spPr>
      </p:pic>
      <p:sp>
        <p:nvSpPr>
          <p:cNvPr id="43" name="Text 3">
            <a:extLst>
              <a:ext uri="{FF2B5EF4-FFF2-40B4-BE49-F238E27FC236}">
                <a16:creationId xmlns:a16="http://schemas.microsoft.com/office/drawing/2014/main" id="{2C443481-DE88-736B-32C7-17D657CCA8F2}"/>
              </a:ext>
            </a:extLst>
          </p:cNvPr>
          <p:cNvSpPr/>
          <p:nvPr/>
        </p:nvSpPr>
        <p:spPr>
          <a:xfrm>
            <a:off x="1155192" y="2121211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available products</a:t>
            </a:r>
            <a:endParaRPr lang="en-US" sz="1350" dirty="0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5BD27522-FADF-D012-10C5-CDDC4203B388}"/>
              </a:ext>
            </a:extLst>
          </p:cNvPr>
          <p:cNvSpPr/>
          <p:nvPr/>
        </p:nvSpPr>
        <p:spPr>
          <a:xfrm>
            <a:off x="533400" y="2688139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1" descr="icons/cart.png">
            <a:extLst>
              <a:ext uri="{FF2B5EF4-FFF2-40B4-BE49-F238E27FC236}">
                <a16:creationId xmlns:a16="http://schemas.microsoft.com/office/drawing/2014/main" id="{9AFE0A1D-4A12-22B1-9891-6BB6B9B20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39" y="2793478"/>
            <a:ext cx="228234" cy="228234"/>
          </a:xfrm>
          <a:prstGeom prst="rect">
            <a:avLst/>
          </a:prstGeom>
        </p:spPr>
      </p:pic>
      <p:sp>
        <p:nvSpPr>
          <p:cNvPr id="49" name="Text 5">
            <a:extLst>
              <a:ext uri="{FF2B5EF4-FFF2-40B4-BE49-F238E27FC236}">
                <a16:creationId xmlns:a16="http://schemas.microsoft.com/office/drawing/2014/main" id="{D91603D8-840F-8561-8ACF-37221404350C}"/>
              </a:ext>
            </a:extLst>
          </p:cNvPr>
          <p:cNvSpPr/>
          <p:nvPr/>
        </p:nvSpPr>
        <p:spPr>
          <a:xfrm>
            <a:off x="1155192" y="2688139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to cart</a:t>
            </a:r>
            <a:endParaRPr lang="en-US" sz="1350" dirty="0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E062E4A6-8293-E053-FF1B-8E68E930B04E}"/>
              </a:ext>
            </a:extLst>
          </p:cNvPr>
          <p:cNvSpPr/>
          <p:nvPr/>
        </p:nvSpPr>
        <p:spPr>
          <a:xfrm>
            <a:off x="533400" y="3255067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3" name="Image 2" descr="icons/select.png">
            <a:extLst>
              <a:ext uri="{FF2B5EF4-FFF2-40B4-BE49-F238E27FC236}">
                <a16:creationId xmlns:a16="http://schemas.microsoft.com/office/drawing/2014/main" id="{63C4B2D5-F7E1-262E-7B91-C8BBE9FFD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739" y="3360406"/>
            <a:ext cx="228234" cy="228234"/>
          </a:xfrm>
          <a:prstGeom prst="rect">
            <a:avLst/>
          </a:prstGeom>
        </p:spPr>
      </p:pic>
      <p:sp>
        <p:nvSpPr>
          <p:cNvPr id="55" name="Text 7">
            <a:extLst>
              <a:ext uri="{FF2B5EF4-FFF2-40B4-BE49-F238E27FC236}">
                <a16:creationId xmlns:a16="http://schemas.microsoft.com/office/drawing/2014/main" id="{4E622672-CF2E-78BA-689C-AA75458789A1}"/>
              </a:ext>
            </a:extLst>
          </p:cNvPr>
          <p:cNvSpPr/>
          <p:nvPr/>
        </p:nvSpPr>
        <p:spPr>
          <a:xfrm>
            <a:off x="1155192" y="3255067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selected products</a:t>
            </a:r>
            <a:endParaRPr lang="en-US" sz="1350" dirty="0"/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BA63C6CF-040B-FF4D-B921-4E8F3DC78C82}"/>
              </a:ext>
            </a:extLst>
          </p:cNvPr>
          <p:cNvSpPr/>
          <p:nvPr/>
        </p:nvSpPr>
        <p:spPr>
          <a:xfrm>
            <a:off x="533400" y="3821995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9" name="Image 3" descr="icons/order.png">
            <a:extLst>
              <a:ext uri="{FF2B5EF4-FFF2-40B4-BE49-F238E27FC236}">
                <a16:creationId xmlns:a16="http://schemas.microsoft.com/office/drawing/2014/main" id="{283CE7FB-88D0-B746-1B66-0BD4D21824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739" y="3927334"/>
            <a:ext cx="228234" cy="228234"/>
          </a:xfrm>
          <a:prstGeom prst="rect">
            <a:avLst/>
          </a:prstGeom>
        </p:spPr>
      </p:pic>
      <p:sp>
        <p:nvSpPr>
          <p:cNvPr id="61" name="Text 9">
            <a:extLst>
              <a:ext uri="{FF2B5EF4-FFF2-40B4-BE49-F238E27FC236}">
                <a16:creationId xmlns:a16="http://schemas.microsoft.com/office/drawing/2014/main" id="{6296E0D5-6AA7-211F-A016-5E97C1FDA670}"/>
              </a:ext>
            </a:extLst>
          </p:cNvPr>
          <p:cNvSpPr/>
          <p:nvPr/>
        </p:nvSpPr>
        <p:spPr>
          <a:xfrm>
            <a:off x="1155192" y="3821995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and manage orders</a:t>
            </a:r>
            <a:endParaRPr lang="en-US" sz="135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DA021426-E603-BA31-42EC-B32BBF309B44}"/>
              </a:ext>
            </a:extLst>
          </p:cNvPr>
          <p:cNvSpPr/>
          <p:nvPr/>
        </p:nvSpPr>
        <p:spPr>
          <a:xfrm>
            <a:off x="533400" y="4388923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5" name="Image 4" descr="icons/check.png">
            <a:extLst>
              <a:ext uri="{FF2B5EF4-FFF2-40B4-BE49-F238E27FC236}">
                <a16:creationId xmlns:a16="http://schemas.microsoft.com/office/drawing/2014/main" id="{54080519-1170-86F5-0A61-F893887576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39" y="4494262"/>
            <a:ext cx="228234" cy="228234"/>
          </a:xfrm>
          <a:prstGeom prst="rect">
            <a:avLst/>
          </a:prstGeom>
        </p:spPr>
      </p:pic>
      <p:sp>
        <p:nvSpPr>
          <p:cNvPr id="67" name="Text 11">
            <a:extLst>
              <a:ext uri="{FF2B5EF4-FFF2-40B4-BE49-F238E27FC236}">
                <a16:creationId xmlns:a16="http://schemas.microsoft.com/office/drawing/2014/main" id="{3837BBFB-7255-FAA9-976A-2243AE7BC7BC}"/>
              </a:ext>
            </a:extLst>
          </p:cNvPr>
          <p:cNvSpPr/>
          <p:nvPr/>
        </p:nvSpPr>
        <p:spPr>
          <a:xfrm>
            <a:off x="1155192" y="4388923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order-related information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710297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42C8-48F1-64F0-BD20-7184EC8A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Module 4:Admin Management Module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67EC1-839C-3F5D-9094-AE396FD380E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516" y="274110"/>
            <a:ext cx="892327" cy="103284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5790E4-EDA1-9350-9811-DD401F8E5E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9031" y="258689"/>
            <a:ext cx="1190089" cy="94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6DA31A57-914E-319B-0921-0BDA61C2FB2D}"/>
              </a:ext>
            </a:extLst>
          </p:cNvPr>
          <p:cNvSpPr/>
          <p:nvPr/>
        </p:nvSpPr>
        <p:spPr>
          <a:xfrm>
            <a:off x="548640" y="1737360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BDAB0AA-30D2-C5A9-417D-5043E39FF309}"/>
              </a:ext>
            </a:extLst>
          </p:cNvPr>
          <p:cNvSpPr/>
          <p:nvPr/>
        </p:nvSpPr>
        <p:spPr>
          <a:xfrm>
            <a:off x="713232" y="1956816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icons/user_login.png">
            <a:extLst>
              <a:ext uri="{FF2B5EF4-FFF2-40B4-BE49-F238E27FC236}">
                <a16:creationId xmlns:a16="http://schemas.microsoft.com/office/drawing/2014/main" id="{0847BAFF-A52B-0FCE-BEB6-114D2C522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6" y="2088490"/>
            <a:ext cx="285293" cy="285293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6554EA9F-4D10-FB72-2C4C-9B53EB53A6F4}"/>
              </a:ext>
            </a:extLst>
          </p:cNvPr>
          <p:cNvSpPr/>
          <p:nvPr/>
        </p:nvSpPr>
        <p:spPr>
          <a:xfrm>
            <a:off x="1417320" y="1737360"/>
            <a:ext cx="1600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2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CC0DD9BA-214C-F824-4AA8-C96156B52081}"/>
              </a:ext>
            </a:extLst>
          </p:cNvPr>
          <p:cNvSpPr/>
          <p:nvPr/>
        </p:nvSpPr>
        <p:spPr>
          <a:xfrm>
            <a:off x="3337560" y="1737360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D02436C7-F2AA-E271-96D2-570FDC2A5E1F}"/>
              </a:ext>
            </a:extLst>
          </p:cNvPr>
          <p:cNvSpPr/>
          <p:nvPr/>
        </p:nvSpPr>
        <p:spPr>
          <a:xfrm>
            <a:off x="3502152" y="1956816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icons/dashboard.png">
            <a:extLst>
              <a:ext uri="{FF2B5EF4-FFF2-40B4-BE49-F238E27FC236}">
                <a16:creationId xmlns:a16="http://schemas.microsoft.com/office/drawing/2014/main" id="{87C40BC5-2268-AA29-3180-74F88D025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826" y="2088490"/>
            <a:ext cx="285293" cy="285293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64699950-D130-90F1-D81D-D1AB5F5DBFA1}"/>
              </a:ext>
            </a:extLst>
          </p:cNvPr>
          <p:cNvSpPr/>
          <p:nvPr/>
        </p:nvSpPr>
        <p:spPr>
          <a:xfrm>
            <a:off x="4206240" y="1737360"/>
            <a:ext cx="1600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151BDB40-75C0-C4B6-DA52-5B33E85B3B5D}"/>
              </a:ext>
            </a:extLst>
          </p:cNvPr>
          <p:cNvSpPr/>
          <p:nvPr/>
        </p:nvSpPr>
        <p:spPr>
          <a:xfrm>
            <a:off x="548640" y="2907792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92BFFE7C-9879-0F26-0E91-4293E47B3F97}"/>
              </a:ext>
            </a:extLst>
          </p:cNvPr>
          <p:cNvSpPr/>
          <p:nvPr/>
        </p:nvSpPr>
        <p:spPr>
          <a:xfrm>
            <a:off x="713232" y="312724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2" descr="icons/products.png">
            <a:extLst>
              <a:ext uri="{FF2B5EF4-FFF2-40B4-BE49-F238E27FC236}">
                <a16:creationId xmlns:a16="http://schemas.microsoft.com/office/drawing/2014/main" id="{54E6647D-FEE7-563B-1B2B-AD3F38CDFD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6" y="3258922"/>
            <a:ext cx="285293" cy="285293"/>
          </a:xfrm>
          <a:prstGeom prst="rect">
            <a:avLst/>
          </a:prstGeom>
        </p:spPr>
      </p:pic>
      <p:sp>
        <p:nvSpPr>
          <p:cNvPr id="32" name="Text 10">
            <a:extLst>
              <a:ext uri="{FF2B5EF4-FFF2-40B4-BE49-F238E27FC236}">
                <a16:creationId xmlns:a16="http://schemas.microsoft.com/office/drawing/2014/main" id="{65C170DA-39F7-787B-6018-AE8892029247}"/>
              </a:ext>
            </a:extLst>
          </p:cNvPr>
          <p:cNvSpPr/>
          <p:nvPr/>
        </p:nvSpPr>
        <p:spPr>
          <a:xfrm>
            <a:off x="1417320" y="2907792"/>
            <a:ext cx="1600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2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EDABD2E5-7BC1-01D8-1B5C-4ACE9BA2E548}"/>
              </a:ext>
            </a:extLst>
          </p:cNvPr>
          <p:cNvSpPr/>
          <p:nvPr/>
        </p:nvSpPr>
        <p:spPr>
          <a:xfrm>
            <a:off x="3337560" y="2907792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F35559B1-4584-A1E3-8BB3-46B3342A8684}"/>
              </a:ext>
            </a:extLst>
          </p:cNvPr>
          <p:cNvSpPr/>
          <p:nvPr/>
        </p:nvSpPr>
        <p:spPr>
          <a:xfrm>
            <a:off x="3502152" y="3127248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3" descr="icons/category.png">
            <a:extLst>
              <a:ext uri="{FF2B5EF4-FFF2-40B4-BE49-F238E27FC236}">
                <a16:creationId xmlns:a16="http://schemas.microsoft.com/office/drawing/2014/main" id="{650AA24C-4CC6-DD4A-3A59-8AB7CFF8B1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3826" y="3258922"/>
            <a:ext cx="285293" cy="285293"/>
          </a:xfrm>
          <a:prstGeom prst="rect">
            <a:avLst/>
          </a:prstGeom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C1A22E48-7753-9474-250F-D82DD91A445A}"/>
              </a:ext>
            </a:extLst>
          </p:cNvPr>
          <p:cNvSpPr/>
          <p:nvPr/>
        </p:nvSpPr>
        <p:spPr>
          <a:xfrm>
            <a:off x="4206240" y="2907792"/>
            <a:ext cx="1600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management</a:t>
            </a:r>
            <a:endParaRPr lang="en-US" sz="1200" dirty="0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B4AAD30E-9925-A184-2655-93C487BAF679}"/>
              </a:ext>
            </a:extLst>
          </p:cNvPr>
          <p:cNvSpPr/>
          <p:nvPr/>
        </p:nvSpPr>
        <p:spPr>
          <a:xfrm>
            <a:off x="548640" y="4078224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2087EEBC-7AF4-B57E-6424-21572D1F3008}"/>
              </a:ext>
            </a:extLst>
          </p:cNvPr>
          <p:cNvSpPr/>
          <p:nvPr/>
        </p:nvSpPr>
        <p:spPr>
          <a:xfrm>
            <a:off x="713232" y="4297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4" descr="icons/customers.png">
            <a:extLst>
              <a:ext uri="{FF2B5EF4-FFF2-40B4-BE49-F238E27FC236}">
                <a16:creationId xmlns:a16="http://schemas.microsoft.com/office/drawing/2014/main" id="{DE33567E-2D6C-DD74-E71C-C3097C86C8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6" y="4429354"/>
            <a:ext cx="285293" cy="285293"/>
          </a:xfrm>
          <a:prstGeom prst="rect">
            <a:avLst/>
          </a:prstGeom>
        </p:spPr>
      </p:pic>
      <p:sp>
        <p:nvSpPr>
          <p:cNvPr id="48" name="Text 16">
            <a:extLst>
              <a:ext uri="{FF2B5EF4-FFF2-40B4-BE49-F238E27FC236}">
                <a16:creationId xmlns:a16="http://schemas.microsoft.com/office/drawing/2014/main" id="{2B5FFADD-C510-5C53-10C7-808EF495C62E}"/>
              </a:ext>
            </a:extLst>
          </p:cNvPr>
          <p:cNvSpPr/>
          <p:nvPr/>
        </p:nvSpPr>
        <p:spPr>
          <a:xfrm>
            <a:off x="1417320" y="4078224"/>
            <a:ext cx="1600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200" dirty="0"/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A5719C6E-BD36-7526-6E3A-3F378DCDD07B}"/>
              </a:ext>
            </a:extLst>
          </p:cNvPr>
          <p:cNvSpPr/>
          <p:nvPr/>
        </p:nvSpPr>
        <p:spPr>
          <a:xfrm>
            <a:off x="3337560" y="4078224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6CAF340D-5CE0-CD13-49FF-AECB9A408FB4}"/>
              </a:ext>
            </a:extLst>
          </p:cNvPr>
          <p:cNvSpPr/>
          <p:nvPr/>
        </p:nvSpPr>
        <p:spPr>
          <a:xfrm>
            <a:off x="3502152" y="42976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mage 5" descr="icons/orders_admin.png">
            <a:extLst>
              <a:ext uri="{FF2B5EF4-FFF2-40B4-BE49-F238E27FC236}">
                <a16:creationId xmlns:a16="http://schemas.microsoft.com/office/drawing/2014/main" id="{49964258-2056-0CE7-6769-B3CBC16998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3826" y="4429354"/>
            <a:ext cx="285293" cy="285293"/>
          </a:xfrm>
          <a:prstGeom prst="rect">
            <a:avLst/>
          </a:prstGeom>
        </p:spPr>
      </p:pic>
      <p:sp>
        <p:nvSpPr>
          <p:cNvPr id="56" name="Text 19">
            <a:extLst>
              <a:ext uri="{FF2B5EF4-FFF2-40B4-BE49-F238E27FC236}">
                <a16:creationId xmlns:a16="http://schemas.microsoft.com/office/drawing/2014/main" id="{B3C0E272-55C1-22FB-2082-FF2C994C2318}"/>
              </a:ext>
            </a:extLst>
          </p:cNvPr>
          <p:cNvSpPr/>
          <p:nvPr/>
        </p:nvSpPr>
        <p:spPr>
          <a:xfrm>
            <a:off x="4206240" y="4078224"/>
            <a:ext cx="1600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200" dirty="0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A4FBF0E1-60D2-DDD9-10DF-5B216D5095E6}"/>
              </a:ext>
            </a:extLst>
          </p:cNvPr>
          <p:cNvSpPr/>
          <p:nvPr/>
        </p:nvSpPr>
        <p:spPr>
          <a:xfrm>
            <a:off x="548640" y="5248656"/>
            <a:ext cx="2560320" cy="987552"/>
          </a:xfrm>
          <a:prstGeom prst="roundRect">
            <a:avLst>
              <a:gd name="adj" fmla="val 7407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0C6968C6-40A8-3615-F16C-9FA3EAB6E24F}"/>
              </a:ext>
            </a:extLst>
          </p:cNvPr>
          <p:cNvSpPr/>
          <p:nvPr/>
        </p:nvSpPr>
        <p:spPr>
          <a:xfrm>
            <a:off x="713232" y="5468112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2" name="Image 6" descr="icons/settings.png">
            <a:extLst>
              <a:ext uri="{FF2B5EF4-FFF2-40B4-BE49-F238E27FC236}">
                <a16:creationId xmlns:a16="http://schemas.microsoft.com/office/drawing/2014/main" id="{C3951247-265A-F71E-D8A2-F6707294EF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906" y="5599786"/>
            <a:ext cx="285293" cy="285293"/>
          </a:xfrm>
          <a:prstGeom prst="rect">
            <a:avLst/>
          </a:prstGeom>
        </p:spPr>
      </p:pic>
      <p:sp>
        <p:nvSpPr>
          <p:cNvPr id="64" name="Text 22">
            <a:extLst>
              <a:ext uri="{FF2B5EF4-FFF2-40B4-BE49-F238E27FC236}">
                <a16:creationId xmlns:a16="http://schemas.microsoft.com/office/drawing/2014/main" id="{62EB766C-FEE0-4704-DEE8-18E3A1820ABE}"/>
              </a:ext>
            </a:extLst>
          </p:cNvPr>
          <p:cNvSpPr/>
          <p:nvPr/>
        </p:nvSpPr>
        <p:spPr>
          <a:xfrm>
            <a:off x="1417320" y="5248656"/>
            <a:ext cx="1600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settings</a:t>
            </a:r>
            <a:endParaRPr lang="en-US" sz="1200" dirty="0"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AECBB3A0-62BA-23A9-B3EA-95E0CD9F2718}"/>
              </a:ext>
            </a:extLst>
          </p:cNvPr>
          <p:cNvSpPr/>
          <p:nvPr/>
        </p:nvSpPr>
        <p:spPr>
          <a:xfrm>
            <a:off x="6959194" y="1417638"/>
            <a:ext cx="4754880" cy="4937760"/>
          </a:xfrm>
          <a:prstGeom prst="roundRect">
            <a:avLst>
              <a:gd name="adj" fmla="val 1923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5E1B4825-D3DD-BFF6-EE76-A9ABBE5C0CBE}"/>
              </a:ext>
            </a:extLst>
          </p:cNvPr>
          <p:cNvSpPr/>
          <p:nvPr/>
        </p:nvSpPr>
        <p:spPr>
          <a:xfrm>
            <a:off x="8823960" y="1920240"/>
            <a:ext cx="1097280" cy="1097280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0" name="Image 7" descr="icons/dashboard.png">
            <a:extLst>
              <a:ext uri="{FF2B5EF4-FFF2-40B4-BE49-F238E27FC236}">
                <a16:creationId xmlns:a16="http://schemas.microsoft.com/office/drawing/2014/main" id="{478AA6C2-0D96-6F97-678E-7112CF64E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307" y="2183587"/>
            <a:ext cx="570586" cy="570586"/>
          </a:xfrm>
          <a:prstGeom prst="rect">
            <a:avLst/>
          </a:prstGeom>
        </p:spPr>
      </p:pic>
      <p:sp>
        <p:nvSpPr>
          <p:cNvPr id="72" name="Text 25">
            <a:extLst>
              <a:ext uri="{FF2B5EF4-FFF2-40B4-BE49-F238E27FC236}">
                <a16:creationId xmlns:a16="http://schemas.microsoft.com/office/drawing/2014/main" id="{670C3445-9BC6-2F58-53CD-60E0ED810B56}"/>
              </a:ext>
            </a:extLst>
          </p:cNvPr>
          <p:cNvSpPr/>
          <p:nvPr/>
        </p:nvSpPr>
        <p:spPr>
          <a:xfrm>
            <a:off x="7132320" y="3246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Admin Dashboard Screenshot</a:t>
            </a:r>
            <a:endParaRPr lang="en-US" sz="1400" dirty="0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7B8EA904-4582-9339-551E-08BB6D6700F0}"/>
              </a:ext>
            </a:extLst>
          </p:cNvPr>
          <p:cNvSpPr/>
          <p:nvPr/>
        </p:nvSpPr>
        <p:spPr>
          <a:xfrm>
            <a:off x="7223760" y="370332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6D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panel with the actual admin dashboard screenshot from the project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68898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D9049-864D-0BDF-719C-5D97651B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System Architecture</a:t>
            </a:r>
            <a:endParaRPr lang="en-IN" sz="320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A3193-078A-FFF3-8487-339D9F09F9C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5811" y="274110"/>
            <a:ext cx="892327" cy="103284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069708-7E69-A31C-A334-6B5FC2810BE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317385"/>
            <a:ext cx="1190089" cy="94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A5FB83E1-3BCB-8E47-D9DA-A8428A926864}"/>
              </a:ext>
            </a:extLst>
          </p:cNvPr>
          <p:cNvSpPr/>
          <p:nvPr/>
        </p:nvSpPr>
        <p:spPr>
          <a:xfrm>
            <a:off x="2346960" y="1901952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A7BE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9688AED7-3B16-9555-819F-5015A110EC72}"/>
              </a:ext>
            </a:extLst>
          </p:cNvPr>
          <p:cNvSpPr/>
          <p:nvPr/>
        </p:nvSpPr>
        <p:spPr>
          <a:xfrm>
            <a:off x="2511552" y="202082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icons/user_profile.png">
            <a:extLst>
              <a:ext uri="{FF2B5EF4-FFF2-40B4-BE49-F238E27FC236}">
                <a16:creationId xmlns:a16="http://schemas.microsoft.com/office/drawing/2014/main" id="{1EEF52EE-CF5B-FD07-81C9-D7B9125DB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226" y="2152498"/>
            <a:ext cx="285293" cy="285293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241F64ED-8F4B-1C32-CF6B-899466C7E408}"/>
              </a:ext>
            </a:extLst>
          </p:cNvPr>
          <p:cNvSpPr/>
          <p:nvPr/>
        </p:nvSpPr>
        <p:spPr>
          <a:xfrm>
            <a:off x="3261360" y="1975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/ Admin</a:t>
            </a:r>
            <a:endParaRPr lang="en-US" sz="15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682DC3FE-5DBF-3653-EFF0-4530CB14FF82}"/>
              </a:ext>
            </a:extLst>
          </p:cNvPr>
          <p:cNvSpPr/>
          <p:nvPr/>
        </p:nvSpPr>
        <p:spPr>
          <a:xfrm>
            <a:off x="3261360" y="230428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interacting with the system</a:t>
            </a:r>
            <a:endParaRPr lang="en-US" sz="11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E2B2961-2FAB-624A-94C4-45FACBFA6431}"/>
              </a:ext>
            </a:extLst>
          </p:cNvPr>
          <p:cNvSpPr/>
          <p:nvPr/>
        </p:nvSpPr>
        <p:spPr>
          <a:xfrm>
            <a:off x="5867400" y="266090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B9D034B6-8298-3B8E-FAC1-EF44EED2AD22}"/>
              </a:ext>
            </a:extLst>
          </p:cNvPr>
          <p:cNvSpPr/>
          <p:nvPr/>
        </p:nvSpPr>
        <p:spPr>
          <a:xfrm>
            <a:off x="2346960" y="2990088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32C19D53-2834-5A70-5533-6822901E92BE}"/>
              </a:ext>
            </a:extLst>
          </p:cNvPr>
          <p:cNvSpPr/>
          <p:nvPr/>
        </p:nvSpPr>
        <p:spPr>
          <a:xfrm>
            <a:off x="2511552" y="3108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1" descr="icons/frontend.png">
            <a:extLst>
              <a:ext uri="{FF2B5EF4-FFF2-40B4-BE49-F238E27FC236}">
                <a16:creationId xmlns:a16="http://schemas.microsoft.com/office/drawing/2014/main" id="{A47D3628-7707-B958-5783-EF1F57989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3226" y="3240634"/>
            <a:ext cx="285293" cy="285293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7960D541-50F5-C0F1-D5E2-4D8103FCE506}"/>
              </a:ext>
            </a:extLst>
          </p:cNvPr>
          <p:cNvSpPr/>
          <p:nvPr/>
        </p:nvSpPr>
        <p:spPr>
          <a:xfrm>
            <a:off x="32613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330FEF9B-CBA7-4411-53CC-9CABC936CCCC}"/>
              </a:ext>
            </a:extLst>
          </p:cNvPr>
          <p:cNvSpPr/>
          <p:nvPr/>
        </p:nvSpPr>
        <p:spPr>
          <a:xfrm>
            <a:off x="3261360" y="339242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</a:t>
            </a:r>
            <a:endParaRPr lang="en-US" sz="11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CE68769-0BFB-A8E4-D8C5-DF282590ED09}"/>
              </a:ext>
            </a:extLst>
          </p:cNvPr>
          <p:cNvSpPr/>
          <p:nvPr/>
        </p:nvSpPr>
        <p:spPr>
          <a:xfrm>
            <a:off x="5867400" y="374904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2504E90-20FD-D3F5-C435-8BB62E9520A0}"/>
              </a:ext>
            </a:extLst>
          </p:cNvPr>
          <p:cNvSpPr/>
          <p:nvPr/>
        </p:nvSpPr>
        <p:spPr>
          <a:xfrm>
            <a:off x="2346960" y="4078224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E3B02C56-E849-653D-A3DA-70623AE44E14}"/>
              </a:ext>
            </a:extLst>
          </p:cNvPr>
          <p:cNvSpPr/>
          <p:nvPr/>
        </p:nvSpPr>
        <p:spPr>
          <a:xfrm>
            <a:off x="2511552" y="419709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2" descr="icons/backend.png">
            <a:extLst>
              <a:ext uri="{FF2B5EF4-FFF2-40B4-BE49-F238E27FC236}">
                <a16:creationId xmlns:a16="http://schemas.microsoft.com/office/drawing/2014/main" id="{D8C77685-04DC-C099-2C87-4E28B912B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3226" y="4328770"/>
            <a:ext cx="285293" cy="285293"/>
          </a:xfrm>
          <a:prstGeom prst="rect">
            <a:avLst/>
          </a:prstGeom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D7308769-FE53-325B-A6EA-F49E1773740F}"/>
              </a:ext>
            </a:extLst>
          </p:cNvPr>
          <p:cNvSpPr/>
          <p:nvPr/>
        </p:nvSpPr>
        <p:spPr>
          <a:xfrm>
            <a:off x="3261360" y="41513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PHP Backend</a:t>
            </a:r>
            <a:endParaRPr lang="en-US" sz="15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B0813E2F-8FF0-937E-9094-20664FD86AE4}"/>
              </a:ext>
            </a:extLst>
          </p:cNvPr>
          <p:cNvSpPr/>
          <p:nvPr/>
        </p:nvSpPr>
        <p:spPr>
          <a:xfrm>
            <a:off x="3261360" y="44805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processing &amp; application logic</a:t>
            </a:r>
            <a:endParaRPr lang="en-US" sz="11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1062DFC7-E97A-31A6-C8E2-3585EE14B187}"/>
              </a:ext>
            </a:extLst>
          </p:cNvPr>
          <p:cNvSpPr/>
          <p:nvPr/>
        </p:nvSpPr>
        <p:spPr>
          <a:xfrm>
            <a:off x="5867400" y="483717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12EBB458-849D-99A5-22E1-BEE86311FB86}"/>
              </a:ext>
            </a:extLst>
          </p:cNvPr>
          <p:cNvSpPr/>
          <p:nvPr/>
        </p:nvSpPr>
        <p:spPr>
          <a:xfrm>
            <a:off x="2346960" y="516636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8E853728-69A9-279F-0996-644E3DF14420}"/>
              </a:ext>
            </a:extLst>
          </p:cNvPr>
          <p:cNvSpPr/>
          <p:nvPr/>
        </p:nvSpPr>
        <p:spPr>
          <a:xfrm>
            <a:off x="2511552" y="5285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3" descr="icons/database_arch.png">
            <a:extLst>
              <a:ext uri="{FF2B5EF4-FFF2-40B4-BE49-F238E27FC236}">
                <a16:creationId xmlns:a16="http://schemas.microsoft.com/office/drawing/2014/main" id="{23A1689E-1C71-1F68-CEC1-9691AA4B15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3226" y="5416906"/>
            <a:ext cx="285293" cy="285293"/>
          </a:xfrm>
          <a:prstGeom prst="rect">
            <a:avLst/>
          </a:prstGeom>
        </p:spPr>
      </p:pic>
      <p:sp>
        <p:nvSpPr>
          <p:cNvPr id="52" name="Text 18">
            <a:extLst>
              <a:ext uri="{FF2B5EF4-FFF2-40B4-BE49-F238E27FC236}">
                <a16:creationId xmlns:a16="http://schemas.microsoft.com/office/drawing/2014/main" id="{59E04BBA-434D-8F56-5682-24611E5A369E}"/>
              </a:ext>
            </a:extLst>
          </p:cNvPr>
          <p:cNvSpPr/>
          <p:nvPr/>
        </p:nvSpPr>
        <p:spPr>
          <a:xfrm>
            <a:off x="3261360" y="5239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MySQL Database</a:t>
            </a:r>
            <a:endParaRPr lang="en-US" sz="1500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FCC6869D-6374-ACD7-CB76-9F5DE738E8C3}"/>
              </a:ext>
            </a:extLst>
          </p:cNvPr>
          <p:cNvSpPr/>
          <p:nvPr/>
        </p:nvSpPr>
        <p:spPr>
          <a:xfrm>
            <a:off x="3261360" y="556869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application data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38914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04FD-B0C8-514C-607A-65901A8A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Technologies Used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E036DF-426F-1D1A-151E-B3F15EE4A73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5811" y="274110"/>
            <a:ext cx="892327" cy="103284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1AA624-A073-006C-E896-7A657E7C583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317385"/>
            <a:ext cx="1190089" cy="94629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21143114-DC42-5890-4640-53D9C1F47FFB}"/>
              </a:ext>
            </a:extLst>
          </p:cNvPr>
          <p:cNvSpPr/>
          <p:nvPr/>
        </p:nvSpPr>
        <p:spPr>
          <a:xfrm>
            <a:off x="495148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ED80663C-6596-0C39-C05E-212E7CFBEDE6}"/>
              </a:ext>
            </a:extLst>
          </p:cNvPr>
          <p:cNvSpPr/>
          <p:nvPr/>
        </p:nvSpPr>
        <p:spPr>
          <a:xfrm>
            <a:off x="1843888" y="1691640"/>
            <a:ext cx="822960" cy="822960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icons/html.png">
            <a:extLst>
              <a:ext uri="{FF2B5EF4-FFF2-40B4-BE49-F238E27FC236}">
                <a16:creationId xmlns:a16="http://schemas.microsoft.com/office/drawing/2014/main" id="{715970A7-E094-675B-91DB-BD8DC9F38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398" y="1889150"/>
            <a:ext cx="427939" cy="427939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DF696171-4204-F640-0FBB-263440F399F9}"/>
              </a:ext>
            </a:extLst>
          </p:cNvPr>
          <p:cNvSpPr/>
          <p:nvPr/>
        </p:nvSpPr>
        <p:spPr>
          <a:xfrm>
            <a:off x="495148" y="2651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HTML</a:t>
            </a:r>
            <a:endParaRPr lang="en-US" sz="16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8997C24-8905-EE36-8599-10A412D0B1BD}"/>
              </a:ext>
            </a:extLst>
          </p:cNvPr>
          <p:cNvSpPr/>
          <p:nvPr/>
        </p:nvSpPr>
        <p:spPr>
          <a:xfrm>
            <a:off x="678028" y="3044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 structure</a:t>
            </a:r>
            <a:endParaRPr lang="en-US" sz="11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CE7E16BD-229C-A0D7-1D90-496A3D77A1AE}"/>
              </a:ext>
            </a:extLst>
          </p:cNvPr>
          <p:cNvSpPr/>
          <p:nvPr/>
        </p:nvSpPr>
        <p:spPr>
          <a:xfrm>
            <a:off x="4335628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8A874CF9-708F-294B-93BD-72C64AE2AAAE}"/>
              </a:ext>
            </a:extLst>
          </p:cNvPr>
          <p:cNvSpPr/>
          <p:nvPr/>
        </p:nvSpPr>
        <p:spPr>
          <a:xfrm>
            <a:off x="5684368" y="1691640"/>
            <a:ext cx="822960" cy="822960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icons/css.png">
            <a:extLst>
              <a:ext uri="{FF2B5EF4-FFF2-40B4-BE49-F238E27FC236}">
                <a16:creationId xmlns:a16="http://schemas.microsoft.com/office/drawing/2014/main" id="{48468ACF-0E36-1780-5070-C02ACF3BA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878" y="1889150"/>
            <a:ext cx="427939" cy="427939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638FF76C-DCCB-A81C-402A-264343515A6C}"/>
              </a:ext>
            </a:extLst>
          </p:cNvPr>
          <p:cNvSpPr/>
          <p:nvPr/>
        </p:nvSpPr>
        <p:spPr>
          <a:xfrm>
            <a:off x="4335628" y="2651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CSS</a:t>
            </a:r>
            <a:endParaRPr lang="en-US" sz="16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4C974BA1-C2F2-D71F-F48D-5ED8C81EE2CB}"/>
              </a:ext>
            </a:extLst>
          </p:cNvPr>
          <p:cNvSpPr/>
          <p:nvPr/>
        </p:nvSpPr>
        <p:spPr>
          <a:xfrm>
            <a:off x="4518508" y="3044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layout &amp; visual design</a:t>
            </a:r>
            <a:endParaRPr lang="en-US" sz="1100" dirty="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312570C0-F92D-620B-2578-7066260F6910}"/>
              </a:ext>
            </a:extLst>
          </p:cNvPr>
          <p:cNvSpPr/>
          <p:nvPr/>
        </p:nvSpPr>
        <p:spPr>
          <a:xfrm>
            <a:off x="8176108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98ABEBEE-B85F-9923-658C-C8E9435133E2}"/>
              </a:ext>
            </a:extLst>
          </p:cNvPr>
          <p:cNvSpPr/>
          <p:nvPr/>
        </p:nvSpPr>
        <p:spPr>
          <a:xfrm>
            <a:off x="9524848" y="1691640"/>
            <a:ext cx="822960" cy="822960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2" descr="icons/js.png">
            <a:extLst>
              <a:ext uri="{FF2B5EF4-FFF2-40B4-BE49-F238E27FC236}">
                <a16:creationId xmlns:a16="http://schemas.microsoft.com/office/drawing/2014/main" id="{22327B35-061B-BD51-3E33-AADD7B17F9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2358" y="1889150"/>
            <a:ext cx="427939" cy="427939"/>
          </a:xfrm>
          <a:prstGeom prst="rect">
            <a:avLst/>
          </a:prstGeom>
        </p:spPr>
      </p:pic>
      <p:sp>
        <p:nvSpPr>
          <p:cNvPr id="34" name="Text 11">
            <a:extLst>
              <a:ext uri="{FF2B5EF4-FFF2-40B4-BE49-F238E27FC236}">
                <a16:creationId xmlns:a16="http://schemas.microsoft.com/office/drawing/2014/main" id="{AECBCBDB-C1B0-2D45-9E93-F5F8EB2D1409}"/>
              </a:ext>
            </a:extLst>
          </p:cNvPr>
          <p:cNvSpPr/>
          <p:nvPr/>
        </p:nvSpPr>
        <p:spPr>
          <a:xfrm>
            <a:off x="8176108" y="2651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C7464009-A91F-DE9B-FFE4-3BD5DF1D788F}"/>
              </a:ext>
            </a:extLst>
          </p:cNvPr>
          <p:cNvSpPr/>
          <p:nvPr/>
        </p:nvSpPr>
        <p:spPr>
          <a:xfrm>
            <a:off x="8358988" y="3044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functionality</a:t>
            </a:r>
            <a:endParaRPr lang="en-US" sz="11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103A9B38-DA19-D714-1E74-D0247AF182FF}"/>
              </a:ext>
            </a:extLst>
          </p:cNvPr>
          <p:cNvSpPr/>
          <p:nvPr/>
        </p:nvSpPr>
        <p:spPr>
          <a:xfrm>
            <a:off x="495148" y="38862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D45C9365-58AB-0513-C92D-B4E48792FF4C}"/>
              </a:ext>
            </a:extLst>
          </p:cNvPr>
          <p:cNvSpPr/>
          <p:nvPr/>
        </p:nvSpPr>
        <p:spPr>
          <a:xfrm>
            <a:off x="1843888" y="416052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3" descr="icons/php.png">
            <a:extLst>
              <a:ext uri="{FF2B5EF4-FFF2-40B4-BE49-F238E27FC236}">
                <a16:creationId xmlns:a16="http://schemas.microsoft.com/office/drawing/2014/main" id="{E7E44B1C-2CC5-B4AC-6706-7226B3D05E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1398" y="4358030"/>
            <a:ext cx="427939" cy="427939"/>
          </a:xfrm>
          <a:prstGeom prst="rect">
            <a:avLst/>
          </a:prstGeom>
        </p:spPr>
      </p:pic>
      <p:sp>
        <p:nvSpPr>
          <p:cNvPr id="44" name="Text 15">
            <a:extLst>
              <a:ext uri="{FF2B5EF4-FFF2-40B4-BE49-F238E27FC236}">
                <a16:creationId xmlns:a16="http://schemas.microsoft.com/office/drawing/2014/main" id="{F5378766-6E43-7AB7-A145-B7528251198A}"/>
              </a:ext>
            </a:extLst>
          </p:cNvPr>
          <p:cNvSpPr/>
          <p:nvPr/>
        </p:nvSpPr>
        <p:spPr>
          <a:xfrm>
            <a:off x="495148" y="5120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PHP</a:t>
            </a:r>
            <a:endParaRPr lang="en-US" sz="160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E71A1ABE-43D3-526C-4215-0F42EDFE2FA5}"/>
              </a:ext>
            </a:extLst>
          </p:cNvPr>
          <p:cNvSpPr/>
          <p:nvPr/>
        </p:nvSpPr>
        <p:spPr>
          <a:xfrm>
            <a:off x="678028" y="55138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processing</a:t>
            </a:r>
            <a:endParaRPr lang="en-US" sz="11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17EB6CDF-C6D8-E213-F0B1-3842D0F74167}"/>
              </a:ext>
            </a:extLst>
          </p:cNvPr>
          <p:cNvSpPr/>
          <p:nvPr/>
        </p:nvSpPr>
        <p:spPr>
          <a:xfrm>
            <a:off x="4335628" y="38862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480C8120-F1EA-F87C-2C15-B65F2BE25CC7}"/>
              </a:ext>
            </a:extLst>
          </p:cNvPr>
          <p:cNvSpPr/>
          <p:nvPr/>
        </p:nvSpPr>
        <p:spPr>
          <a:xfrm>
            <a:off x="5684368" y="416052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2" name="Image 4" descr="icons/mysql.png">
            <a:extLst>
              <a:ext uri="{FF2B5EF4-FFF2-40B4-BE49-F238E27FC236}">
                <a16:creationId xmlns:a16="http://schemas.microsoft.com/office/drawing/2014/main" id="{C3FBFF2D-39E1-07B0-370F-714E6DFE3C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1878" y="4358030"/>
            <a:ext cx="427939" cy="427939"/>
          </a:xfrm>
          <a:prstGeom prst="rect">
            <a:avLst/>
          </a:prstGeom>
        </p:spPr>
      </p:pic>
      <p:sp>
        <p:nvSpPr>
          <p:cNvPr id="54" name="Text 19">
            <a:extLst>
              <a:ext uri="{FF2B5EF4-FFF2-40B4-BE49-F238E27FC236}">
                <a16:creationId xmlns:a16="http://schemas.microsoft.com/office/drawing/2014/main" id="{49F64F6A-999F-0842-4E8E-2B34A543ACE2}"/>
              </a:ext>
            </a:extLst>
          </p:cNvPr>
          <p:cNvSpPr/>
          <p:nvPr/>
        </p:nvSpPr>
        <p:spPr>
          <a:xfrm>
            <a:off x="4335628" y="5120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MySQL</a:t>
            </a:r>
            <a:endParaRPr lang="en-US" sz="1600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F23A8497-ABA8-466D-BF9A-66697E598D1F}"/>
              </a:ext>
            </a:extLst>
          </p:cNvPr>
          <p:cNvSpPr/>
          <p:nvPr/>
        </p:nvSpPr>
        <p:spPr>
          <a:xfrm>
            <a:off x="4518508" y="55138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</a:t>
            </a:r>
            <a:endParaRPr lang="en-US" sz="1100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C18817B1-BA28-72A0-4B26-05C7CB165EDC}"/>
              </a:ext>
            </a:extLst>
          </p:cNvPr>
          <p:cNvSpPr/>
          <p:nvPr/>
        </p:nvSpPr>
        <p:spPr>
          <a:xfrm>
            <a:off x="8176108" y="38862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4725BEB4-C6E8-3173-B1C7-8BD94E2213F1}"/>
              </a:ext>
            </a:extLst>
          </p:cNvPr>
          <p:cNvSpPr/>
          <p:nvPr/>
        </p:nvSpPr>
        <p:spPr>
          <a:xfrm>
            <a:off x="9524848" y="416052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2" name="Image 5" descr="icons/fontawesome.png">
            <a:extLst>
              <a:ext uri="{FF2B5EF4-FFF2-40B4-BE49-F238E27FC236}">
                <a16:creationId xmlns:a16="http://schemas.microsoft.com/office/drawing/2014/main" id="{4FBAE978-ECB1-E66C-448C-F1FA312A2F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2358" y="4358030"/>
            <a:ext cx="427939" cy="427939"/>
          </a:xfrm>
          <a:prstGeom prst="rect">
            <a:avLst/>
          </a:prstGeom>
        </p:spPr>
      </p:pic>
      <p:sp>
        <p:nvSpPr>
          <p:cNvPr id="64" name="Text 23">
            <a:extLst>
              <a:ext uri="{FF2B5EF4-FFF2-40B4-BE49-F238E27FC236}">
                <a16:creationId xmlns:a16="http://schemas.microsoft.com/office/drawing/2014/main" id="{3065D64C-3F3C-E043-B85B-946994BA48DD}"/>
              </a:ext>
            </a:extLst>
          </p:cNvPr>
          <p:cNvSpPr/>
          <p:nvPr/>
        </p:nvSpPr>
        <p:spPr>
          <a:xfrm>
            <a:off x="8176108" y="5120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Font Awesome</a:t>
            </a:r>
            <a:endParaRPr lang="en-US" sz="1600" dirty="0"/>
          </a:p>
        </p:txBody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16E85991-CD47-333C-62E0-73111A1E7AF0}"/>
              </a:ext>
            </a:extLst>
          </p:cNvPr>
          <p:cNvSpPr/>
          <p:nvPr/>
        </p:nvSpPr>
        <p:spPr>
          <a:xfrm>
            <a:off x="8358988" y="55138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&amp; UI elements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040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F554-16B8-1C70-5461-F6382873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Interface &amp; Admin Dashboard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F56F6A-5904-28E5-6C03-2AA987D2C6F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5811" y="274110"/>
            <a:ext cx="892327" cy="103284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CF4B68-B2C4-095C-1B8E-47C43CB1FC9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317385"/>
            <a:ext cx="1190089" cy="94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4BA1BECB-9D4C-1E52-FD10-C26CD795F5EB}"/>
              </a:ext>
            </a:extLst>
          </p:cNvPr>
          <p:cNvSpPr/>
          <p:nvPr/>
        </p:nvSpPr>
        <p:spPr>
          <a:xfrm>
            <a:off x="518160" y="1460385"/>
            <a:ext cx="5349240" cy="5029200"/>
          </a:xfrm>
          <a:prstGeom prst="roundRect">
            <a:avLst>
              <a:gd name="adj" fmla="val 1818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D0CC40B3-8101-B160-3396-D713A6B434FD}"/>
              </a:ext>
            </a:extLst>
          </p:cNvPr>
          <p:cNvSpPr/>
          <p:nvPr/>
        </p:nvSpPr>
        <p:spPr>
          <a:xfrm>
            <a:off x="792480" y="1688985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icons/user_profile.png">
            <a:extLst>
              <a:ext uri="{FF2B5EF4-FFF2-40B4-BE49-F238E27FC236}">
                <a16:creationId xmlns:a16="http://schemas.microsoft.com/office/drawing/2014/main" id="{00EADFF6-78A5-4528-4DA0-0842D45A6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81" y="1809686"/>
            <a:ext cx="261518" cy="261518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C355C431-7DD5-E846-89EE-80665F008310}"/>
              </a:ext>
            </a:extLst>
          </p:cNvPr>
          <p:cNvSpPr/>
          <p:nvPr/>
        </p:nvSpPr>
        <p:spPr>
          <a:xfrm>
            <a:off x="1432560" y="1707273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Interface</a:t>
            </a:r>
            <a:endParaRPr lang="en-US" sz="17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B2E5A8CB-B6DB-E797-6AB2-D714A49EB55B}"/>
              </a:ext>
            </a:extLst>
          </p:cNvPr>
          <p:cNvSpPr/>
          <p:nvPr/>
        </p:nvSpPr>
        <p:spPr>
          <a:xfrm>
            <a:off x="792480" y="2374785"/>
            <a:ext cx="4800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D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08F0D08D-5263-C9FC-C361-271269F6C2F8}"/>
              </a:ext>
            </a:extLst>
          </p:cNvPr>
          <p:cNvSpPr/>
          <p:nvPr/>
        </p:nvSpPr>
        <p:spPr>
          <a:xfrm>
            <a:off x="792480" y="2374785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1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24DBE011-0733-1E4A-0C1F-21114175A519}"/>
              </a:ext>
            </a:extLst>
          </p:cNvPr>
          <p:cNvSpPr/>
          <p:nvPr/>
        </p:nvSpPr>
        <p:spPr>
          <a:xfrm>
            <a:off x="792480" y="4935105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5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5190CFE9-137B-F1EF-C0F5-4E51F8BF23CB}"/>
              </a:ext>
            </a:extLst>
          </p:cNvPr>
          <p:cNvSpPr/>
          <p:nvPr/>
        </p:nvSpPr>
        <p:spPr>
          <a:xfrm>
            <a:off x="6233160" y="1460385"/>
            <a:ext cx="5349240" cy="5029200"/>
          </a:xfrm>
          <a:prstGeom prst="roundRect">
            <a:avLst>
              <a:gd name="adj" fmla="val 1818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B7BA0F2-AD00-5024-7826-4B7C33DB2820}"/>
              </a:ext>
            </a:extLst>
          </p:cNvPr>
          <p:cNvSpPr/>
          <p:nvPr/>
        </p:nvSpPr>
        <p:spPr>
          <a:xfrm>
            <a:off x="6507480" y="1688985"/>
            <a:ext cx="502920" cy="502920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icons/admin.png">
            <a:extLst>
              <a:ext uri="{FF2B5EF4-FFF2-40B4-BE49-F238E27FC236}">
                <a16:creationId xmlns:a16="http://schemas.microsoft.com/office/drawing/2014/main" id="{0527A6A0-CA62-8D19-18CC-543D94EFC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181" y="1809686"/>
            <a:ext cx="261518" cy="261518"/>
          </a:xfrm>
          <a:prstGeom prst="rect">
            <a:avLst/>
          </a:prstGeom>
        </p:spPr>
      </p:pic>
      <p:sp>
        <p:nvSpPr>
          <p:cNvPr id="30" name="Text 9">
            <a:extLst>
              <a:ext uri="{FF2B5EF4-FFF2-40B4-BE49-F238E27FC236}">
                <a16:creationId xmlns:a16="http://schemas.microsoft.com/office/drawing/2014/main" id="{A91DBBFA-5E4C-AF4F-3703-8E5BB5EF8D70}"/>
              </a:ext>
            </a:extLst>
          </p:cNvPr>
          <p:cNvSpPr/>
          <p:nvPr/>
        </p:nvSpPr>
        <p:spPr>
          <a:xfrm>
            <a:off x="7147560" y="1707273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Admin Interface</a:t>
            </a:r>
            <a:endParaRPr lang="en-US" sz="17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2E01EAB9-0CA3-3059-D65D-72596245FB8D}"/>
              </a:ext>
            </a:extLst>
          </p:cNvPr>
          <p:cNvSpPr/>
          <p:nvPr/>
        </p:nvSpPr>
        <p:spPr>
          <a:xfrm>
            <a:off x="6507480" y="2374785"/>
            <a:ext cx="4800600" cy="2377440"/>
          </a:xfrm>
          <a:prstGeom prst="roundRect">
            <a:avLst>
              <a:gd name="adj" fmla="val 3077"/>
            </a:avLst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2A81AFF8-3FFE-3E4F-A52C-7E95AAC7F214}"/>
              </a:ext>
            </a:extLst>
          </p:cNvPr>
          <p:cNvSpPr/>
          <p:nvPr/>
        </p:nvSpPr>
        <p:spPr>
          <a:xfrm>
            <a:off x="6507480" y="2374785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6D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1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2F914C60-7234-33C1-D175-3A9E28007295}"/>
              </a:ext>
            </a:extLst>
          </p:cNvPr>
          <p:cNvSpPr/>
          <p:nvPr/>
        </p:nvSpPr>
        <p:spPr>
          <a:xfrm>
            <a:off x="6507480" y="4935105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414499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3C47-C3E5-75D0-4DEC-A2B88967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E2A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Enhancements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45D55-B76C-F557-851E-B1BAF16E24E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5811" y="274110"/>
            <a:ext cx="892327" cy="103284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72D81B-35DC-4DE4-019B-5A7737BD356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317385"/>
            <a:ext cx="1190089" cy="94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F8B639A0-0B82-A036-0DB4-6BC658811506}"/>
              </a:ext>
            </a:extLst>
          </p:cNvPr>
          <p:cNvSpPr/>
          <p:nvPr/>
        </p:nvSpPr>
        <p:spPr>
          <a:xfrm>
            <a:off x="512064" y="167335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24E78456-830E-A1DE-CF31-E6F43742016E}"/>
              </a:ext>
            </a:extLst>
          </p:cNvPr>
          <p:cNvSpPr/>
          <p:nvPr/>
        </p:nvSpPr>
        <p:spPr>
          <a:xfrm>
            <a:off x="1449324" y="1929384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icons/payment.png">
            <a:extLst>
              <a:ext uri="{FF2B5EF4-FFF2-40B4-BE49-F238E27FC236}">
                <a16:creationId xmlns:a16="http://schemas.microsoft.com/office/drawing/2014/main" id="{93D36804-5B17-CCF3-4318-5320D3EF4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888" y="2104949"/>
            <a:ext cx="380390" cy="38039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0443A280-584C-BCC0-59DC-1481CD393F08}"/>
              </a:ext>
            </a:extLst>
          </p:cNvPr>
          <p:cNvSpPr/>
          <p:nvPr/>
        </p:nvSpPr>
        <p:spPr>
          <a:xfrm>
            <a:off x="649224" y="281635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</a:t>
            </a:r>
            <a:endParaRPr lang="en-US" sz="12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BD6C44EA-21F4-11C3-D08A-5219C91FD4AD}"/>
              </a:ext>
            </a:extLst>
          </p:cNvPr>
          <p:cNvSpPr/>
          <p:nvPr/>
        </p:nvSpPr>
        <p:spPr>
          <a:xfrm>
            <a:off x="3374136" y="167335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0D4130A-725E-46CC-E7FA-99C738E5D3EA}"/>
              </a:ext>
            </a:extLst>
          </p:cNvPr>
          <p:cNvSpPr/>
          <p:nvPr/>
        </p:nvSpPr>
        <p:spPr>
          <a:xfrm>
            <a:off x="4311396" y="1929384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icons/tracking.png">
            <a:extLst>
              <a:ext uri="{FF2B5EF4-FFF2-40B4-BE49-F238E27FC236}">
                <a16:creationId xmlns:a16="http://schemas.microsoft.com/office/drawing/2014/main" id="{F12FB230-3821-04AD-9013-3E188FAB7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960" y="2104949"/>
            <a:ext cx="380390" cy="380390"/>
          </a:xfrm>
          <a:prstGeom prst="rect">
            <a:avLst/>
          </a:prstGeom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2B1DBA16-A86C-04F7-D931-9C4D73B4B2B7}"/>
              </a:ext>
            </a:extLst>
          </p:cNvPr>
          <p:cNvSpPr/>
          <p:nvPr/>
        </p:nvSpPr>
        <p:spPr>
          <a:xfrm>
            <a:off x="3511296" y="281635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Tracking</a:t>
            </a:r>
            <a:endParaRPr lang="en-US" sz="12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BBDEBF5B-2856-70E5-DF6C-3DAED6190A87}"/>
              </a:ext>
            </a:extLst>
          </p:cNvPr>
          <p:cNvSpPr/>
          <p:nvPr/>
        </p:nvSpPr>
        <p:spPr>
          <a:xfrm>
            <a:off x="6236208" y="167335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F5E45D9E-6CB2-B9E5-BDA4-6A5D03501926}"/>
              </a:ext>
            </a:extLst>
          </p:cNvPr>
          <p:cNvSpPr/>
          <p:nvPr/>
        </p:nvSpPr>
        <p:spPr>
          <a:xfrm>
            <a:off x="7173468" y="1929384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2" descr="icons/reviews.png">
            <a:extLst>
              <a:ext uri="{FF2B5EF4-FFF2-40B4-BE49-F238E27FC236}">
                <a16:creationId xmlns:a16="http://schemas.microsoft.com/office/drawing/2014/main" id="{BF21A781-2607-2DAA-C483-E2655BF90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9032" y="2104949"/>
            <a:ext cx="380390" cy="380390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F8F085C2-A238-31BE-2A17-913E65F3E887}"/>
              </a:ext>
            </a:extLst>
          </p:cNvPr>
          <p:cNvSpPr/>
          <p:nvPr/>
        </p:nvSpPr>
        <p:spPr>
          <a:xfrm>
            <a:off x="6373368" y="281635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 &amp; Ratings</a:t>
            </a:r>
            <a:endParaRPr lang="en-US" sz="12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642EE8C2-2D61-D072-8026-CFA2DC874300}"/>
              </a:ext>
            </a:extLst>
          </p:cNvPr>
          <p:cNvSpPr/>
          <p:nvPr/>
        </p:nvSpPr>
        <p:spPr>
          <a:xfrm>
            <a:off x="9098280" y="167335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68E93C44-6248-BF4C-7B8E-3DF5FB87E004}"/>
              </a:ext>
            </a:extLst>
          </p:cNvPr>
          <p:cNvSpPr/>
          <p:nvPr/>
        </p:nvSpPr>
        <p:spPr>
          <a:xfrm>
            <a:off x="10035540" y="1929384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3" descr="icons/seller.png">
            <a:extLst>
              <a:ext uri="{FF2B5EF4-FFF2-40B4-BE49-F238E27FC236}">
                <a16:creationId xmlns:a16="http://schemas.microsoft.com/office/drawing/2014/main" id="{D2A75CD7-9CBF-3BCE-0C82-50FEDD0497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1104" y="2104949"/>
            <a:ext cx="380390" cy="380390"/>
          </a:xfrm>
          <a:prstGeom prst="rect">
            <a:avLst/>
          </a:prstGeom>
        </p:spPr>
      </p:pic>
      <p:sp>
        <p:nvSpPr>
          <p:cNvPr id="40" name="Text 12">
            <a:extLst>
              <a:ext uri="{FF2B5EF4-FFF2-40B4-BE49-F238E27FC236}">
                <a16:creationId xmlns:a16="http://schemas.microsoft.com/office/drawing/2014/main" id="{7A8006A4-02B2-5A36-A1B6-B2F160522FE6}"/>
              </a:ext>
            </a:extLst>
          </p:cNvPr>
          <p:cNvSpPr/>
          <p:nvPr/>
        </p:nvSpPr>
        <p:spPr>
          <a:xfrm>
            <a:off x="9235440" y="281635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/ Vendor Accounts</a:t>
            </a:r>
            <a:endParaRPr lang="en-US" sz="120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38FB44D5-B61C-4C09-8010-9AEFD006E746}"/>
              </a:ext>
            </a:extLst>
          </p:cNvPr>
          <p:cNvSpPr/>
          <p:nvPr/>
        </p:nvSpPr>
        <p:spPr>
          <a:xfrm>
            <a:off x="512064" y="391363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B8CBB434-FF64-457E-952F-7C20E599DA46}"/>
              </a:ext>
            </a:extLst>
          </p:cNvPr>
          <p:cNvSpPr/>
          <p:nvPr/>
        </p:nvSpPr>
        <p:spPr>
          <a:xfrm>
            <a:off x="1449324" y="4169664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4" descr="icons/delivery.png">
            <a:extLst>
              <a:ext uri="{FF2B5EF4-FFF2-40B4-BE49-F238E27FC236}">
                <a16:creationId xmlns:a16="http://schemas.microsoft.com/office/drawing/2014/main" id="{25632468-DD6D-5182-D2D1-A5AD6F30DF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4888" y="4345229"/>
            <a:ext cx="380390" cy="380390"/>
          </a:xfrm>
          <a:prstGeom prst="rect">
            <a:avLst/>
          </a:prstGeom>
        </p:spPr>
      </p:pic>
      <p:sp>
        <p:nvSpPr>
          <p:cNvPr id="48" name="Text 15">
            <a:extLst>
              <a:ext uri="{FF2B5EF4-FFF2-40B4-BE49-F238E27FC236}">
                <a16:creationId xmlns:a16="http://schemas.microsoft.com/office/drawing/2014/main" id="{890E58E8-84EC-B0BE-957E-8B721E016BEC}"/>
              </a:ext>
            </a:extLst>
          </p:cNvPr>
          <p:cNvSpPr/>
          <p:nvPr/>
        </p:nvSpPr>
        <p:spPr>
          <a:xfrm>
            <a:off x="649224" y="505663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Integration</a:t>
            </a:r>
            <a:endParaRPr lang="en-US" sz="1200" dirty="0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1646AF74-4738-E615-2AE8-683A991F706B}"/>
              </a:ext>
            </a:extLst>
          </p:cNvPr>
          <p:cNvSpPr/>
          <p:nvPr/>
        </p:nvSpPr>
        <p:spPr>
          <a:xfrm>
            <a:off x="3374136" y="391363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6F02715A-C097-C6D0-C527-6F266784FF5A}"/>
              </a:ext>
            </a:extLst>
          </p:cNvPr>
          <p:cNvSpPr/>
          <p:nvPr/>
        </p:nvSpPr>
        <p:spPr>
          <a:xfrm>
            <a:off x="4311396" y="4169664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mage 5" descr="icons/ai.png">
            <a:extLst>
              <a:ext uri="{FF2B5EF4-FFF2-40B4-BE49-F238E27FC236}">
                <a16:creationId xmlns:a16="http://schemas.microsoft.com/office/drawing/2014/main" id="{5F92F883-13DE-4486-4AF6-128DE88F66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960" y="4345229"/>
            <a:ext cx="380390" cy="380390"/>
          </a:xfrm>
          <a:prstGeom prst="rect">
            <a:avLst/>
          </a:prstGeom>
        </p:spPr>
      </p:pic>
      <p:sp>
        <p:nvSpPr>
          <p:cNvPr id="56" name="Text 18">
            <a:extLst>
              <a:ext uri="{FF2B5EF4-FFF2-40B4-BE49-F238E27FC236}">
                <a16:creationId xmlns:a16="http://schemas.microsoft.com/office/drawing/2014/main" id="{A6A4CE32-B4E1-FF20-83C5-612864ADCA04}"/>
              </a:ext>
            </a:extLst>
          </p:cNvPr>
          <p:cNvSpPr/>
          <p:nvPr/>
        </p:nvSpPr>
        <p:spPr>
          <a:xfrm>
            <a:off x="3511296" y="505663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Recommendations</a:t>
            </a:r>
            <a:endParaRPr lang="en-US" sz="1200" dirty="0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C85A3F7D-8556-611E-E604-D3D5F4CE9A34}"/>
              </a:ext>
            </a:extLst>
          </p:cNvPr>
          <p:cNvSpPr/>
          <p:nvPr/>
        </p:nvSpPr>
        <p:spPr>
          <a:xfrm>
            <a:off x="6236208" y="391363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0FCFBEB2-2376-BD5E-06ED-153EA4DF3A63}"/>
              </a:ext>
            </a:extLst>
          </p:cNvPr>
          <p:cNvSpPr/>
          <p:nvPr/>
        </p:nvSpPr>
        <p:spPr>
          <a:xfrm>
            <a:off x="7173468" y="4169664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2" name="Image 6" descr="icons/mobile.png">
            <a:extLst>
              <a:ext uri="{FF2B5EF4-FFF2-40B4-BE49-F238E27FC236}">
                <a16:creationId xmlns:a16="http://schemas.microsoft.com/office/drawing/2014/main" id="{B5F80105-B013-D91C-DEE6-7883080E3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9032" y="4345229"/>
            <a:ext cx="380390" cy="380390"/>
          </a:xfrm>
          <a:prstGeom prst="rect">
            <a:avLst/>
          </a:prstGeom>
        </p:spPr>
      </p:pic>
      <p:sp>
        <p:nvSpPr>
          <p:cNvPr id="64" name="Text 21">
            <a:extLst>
              <a:ext uri="{FF2B5EF4-FFF2-40B4-BE49-F238E27FC236}">
                <a16:creationId xmlns:a16="http://schemas.microsoft.com/office/drawing/2014/main" id="{025B2CD4-EEE2-3494-8E65-F072CD7AB7F6}"/>
              </a:ext>
            </a:extLst>
          </p:cNvPr>
          <p:cNvSpPr/>
          <p:nvPr/>
        </p:nvSpPr>
        <p:spPr>
          <a:xfrm>
            <a:off x="6373368" y="5056632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02049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7344" y="493388"/>
            <a:ext cx="642537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000" b="1" dirty="0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4000" dirty="0"/>
          </a:p>
        </p:txBody>
      </p:sp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7567" y="360553"/>
            <a:ext cx="941490" cy="1010446"/>
          </a:xfrm>
          <a:prstGeom prst="rect">
            <a:avLst/>
          </a:prstGeom>
          <a:noFill/>
        </p:spPr>
      </p:pic>
      <p:pic>
        <p:nvPicPr>
          <p:cNvPr id="15" name="Picture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346" y="462623"/>
            <a:ext cx="1189214" cy="90837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Shape 1">
            <a:extLst>
              <a:ext uri="{FF2B5EF4-FFF2-40B4-BE49-F238E27FC236}">
                <a16:creationId xmlns:a16="http://schemas.microsoft.com/office/drawing/2014/main" id="{7E255906-24CB-3599-C4EF-CBDAEA0900BB}"/>
              </a:ext>
            </a:extLst>
          </p:cNvPr>
          <p:cNvSpPr/>
          <p:nvPr/>
        </p:nvSpPr>
        <p:spPr>
          <a:xfrm>
            <a:off x="9286240" y="4388519"/>
            <a:ext cx="4206240" cy="4206240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4C753E92-E9C7-7628-695D-42B7111AB05A}"/>
              </a:ext>
            </a:extLst>
          </p:cNvPr>
          <p:cNvSpPr/>
          <p:nvPr/>
        </p:nvSpPr>
        <p:spPr>
          <a:xfrm>
            <a:off x="599440" y="730919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CF2F53BA-F797-3E78-DD83-6A4FAE511BE8}"/>
              </a:ext>
            </a:extLst>
          </p:cNvPr>
          <p:cNvSpPr/>
          <p:nvPr/>
        </p:nvSpPr>
        <p:spPr>
          <a:xfrm>
            <a:off x="599440" y="1691039"/>
            <a:ext cx="384048" cy="384048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72" name="Image 0" descr="icons/check.png">
            <a:extLst>
              <a:ext uri="{FF2B5EF4-FFF2-40B4-BE49-F238E27FC236}">
                <a16:creationId xmlns:a16="http://schemas.microsoft.com/office/drawing/2014/main" id="{85576C06-0087-E8BC-9357-F8828D99D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12" y="1783211"/>
            <a:ext cx="199705" cy="199705"/>
          </a:xfrm>
          <a:prstGeom prst="rect">
            <a:avLst/>
          </a:prstGeom>
        </p:spPr>
      </p:pic>
      <p:sp>
        <p:nvSpPr>
          <p:cNvPr id="3074" name="Text 4">
            <a:extLst>
              <a:ext uri="{FF2B5EF4-FFF2-40B4-BE49-F238E27FC236}">
                <a16:creationId xmlns:a16="http://schemas.microsoft.com/office/drawing/2014/main" id="{332B7FCB-D7AF-5260-8B40-BE4A2D46B05C}"/>
              </a:ext>
            </a:extLst>
          </p:cNvPr>
          <p:cNvSpPr/>
          <p:nvPr/>
        </p:nvSpPr>
        <p:spPr>
          <a:xfrm>
            <a:off x="1148080" y="1691039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HomeChef provides a digital marketplace for homemade food products.</a:t>
            </a:r>
            <a:endParaRPr lang="en-US" sz="1350" dirty="0"/>
          </a:p>
        </p:txBody>
      </p:sp>
      <p:sp>
        <p:nvSpPr>
          <p:cNvPr id="3077" name="Shape 5">
            <a:extLst>
              <a:ext uri="{FF2B5EF4-FFF2-40B4-BE49-F238E27FC236}">
                <a16:creationId xmlns:a16="http://schemas.microsoft.com/office/drawing/2014/main" id="{B8C9E986-8ABB-08A0-943E-7C56F078D648}"/>
              </a:ext>
            </a:extLst>
          </p:cNvPr>
          <p:cNvSpPr/>
          <p:nvPr/>
        </p:nvSpPr>
        <p:spPr>
          <a:xfrm>
            <a:off x="599440" y="2257967"/>
            <a:ext cx="384048" cy="384048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79" name="Image 1" descr="icons/check.png">
            <a:extLst>
              <a:ext uri="{FF2B5EF4-FFF2-40B4-BE49-F238E27FC236}">
                <a16:creationId xmlns:a16="http://schemas.microsoft.com/office/drawing/2014/main" id="{E37A7C40-DB25-4731-49FE-62B372400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12" y="2350139"/>
            <a:ext cx="199705" cy="199705"/>
          </a:xfrm>
          <a:prstGeom prst="rect">
            <a:avLst/>
          </a:prstGeom>
        </p:spPr>
      </p:pic>
      <p:sp>
        <p:nvSpPr>
          <p:cNvPr id="3081" name="Text 6">
            <a:extLst>
              <a:ext uri="{FF2B5EF4-FFF2-40B4-BE49-F238E27FC236}">
                <a16:creationId xmlns:a16="http://schemas.microsoft.com/office/drawing/2014/main" id="{7C53C2AD-6734-1E59-EF4C-E21C0C37C752}"/>
              </a:ext>
            </a:extLst>
          </p:cNvPr>
          <p:cNvSpPr/>
          <p:nvPr/>
        </p:nvSpPr>
        <p:spPr>
          <a:xfrm>
            <a:off x="1148080" y="2257967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four modules organize the major functions of the system.</a:t>
            </a:r>
            <a:endParaRPr lang="en-US" sz="1350" dirty="0"/>
          </a:p>
        </p:txBody>
      </p:sp>
      <p:sp>
        <p:nvSpPr>
          <p:cNvPr id="3083" name="Shape 7">
            <a:extLst>
              <a:ext uri="{FF2B5EF4-FFF2-40B4-BE49-F238E27FC236}">
                <a16:creationId xmlns:a16="http://schemas.microsoft.com/office/drawing/2014/main" id="{FEA4466D-49A7-5774-5CD9-5A8F9A04C0A2}"/>
              </a:ext>
            </a:extLst>
          </p:cNvPr>
          <p:cNvSpPr/>
          <p:nvPr/>
        </p:nvSpPr>
        <p:spPr>
          <a:xfrm>
            <a:off x="599440" y="2824895"/>
            <a:ext cx="384048" cy="384048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85" name="Image 2" descr="icons/check.png">
            <a:extLst>
              <a:ext uri="{FF2B5EF4-FFF2-40B4-BE49-F238E27FC236}">
                <a16:creationId xmlns:a16="http://schemas.microsoft.com/office/drawing/2014/main" id="{F518BC3D-AAB4-F2BE-6A68-483F5758F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12" y="2917067"/>
            <a:ext cx="199705" cy="199705"/>
          </a:xfrm>
          <a:prstGeom prst="rect">
            <a:avLst/>
          </a:prstGeom>
        </p:spPr>
      </p:pic>
      <p:sp>
        <p:nvSpPr>
          <p:cNvPr id="3087" name="Text 8">
            <a:extLst>
              <a:ext uri="{FF2B5EF4-FFF2-40B4-BE49-F238E27FC236}">
                <a16:creationId xmlns:a16="http://schemas.microsoft.com/office/drawing/2014/main" id="{7D6CBCDC-2A57-B98C-2109-02D748CAB39E}"/>
              </a:ext>
            </a:extLst>
          </p:cNvPr>
          <p:cNvSpPr/>
          <p:nvPr/>
        </p:nvSpPr>
        <p:spPr>
          <a:xfrm>
            <a:off x="1148080" y="2824895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conveniently discover and purchase products.</a:t>
            </a:r>
            <a:endParaRPr lang="en-US" sz="1350" dirty="0"/>
          </a:p>
        </p:txBody>
      </p:sp>
      <p:sp>
        <p:nvSpPr>
          <p:cNvPr id="3089" name="Shape 9">
            <a:extLst>
              <a:ext uri="{FF2B5EF4-FFF2-40B4-BE49-F238E27FC236}">
                <a16:creationId xmlns:a16="http://schemas.microsoft.com/office/drawing/2014/main" id="{0A6AB40A-C332-8774-A499-0516FBD706C6}"/>
              </a:ext>
            </a:extLst>
          </p:cNvPr>
          <p:cNvSpPr/>
          <p:nvPr/>
        </p:nvSpPr>
        <p:spPr>
          <a:xfrm>
            <a:off x="599440" y="3391823"/>
            <a:ext cx="384048" cy="384048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91" name="Image 3" descr="icons/check.png">
            <a:extLst>
              <a:ext uri="{FF2B5EF4-FFF2-40B4-BE49-F238E27FC236}">
                <a16:creationId xmlns:a16="http://schemas.microsoft.com/office/drawing/2014/main" id="{43864386-8B54-7FF6-7959-360F8E44A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12" y="3483995"/>
            <a:ext cx="199705" cy="199705"/>
          </a:xfrm>
          <a:prstGeom prst="rect">
            <a:avLst/>
          </a:prstGeom>
        </p:spPr>
      </p:pic>
      <p:sp>
        <p:nvSpPr>
          <p:cNvPr id="3093" name="Text 10">
            <a:extLst>
              <a:ext uri="{FF2B5EF4-FFF2-40B4-BE49-F238E27FC236}">
                <a16:creationId xmlns:a16="http://schemas.microsoft.com/office/drawing/2014/main" id="{0D60FE21-6C38-07B3-0B13-4B6DA8FE35A5}"/>
              </a:ext>
            </a:extLst>
          </p:cNvPr>
          <p:cNvSpPr/>
          <p:nvPr/>
        </p:nvSpPr>
        <p:spPr>
          <a:xfrm>
            <a:off x="1148080" y="3391823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can manage products, customers, categories and orders.</a:t>
            </a:r>
            <a:endParaRPr lang="en-US" sz="1350" dirty="0"/>
          </a:p>
        </p:txBody>
      </p:sp>
      <p:sp>
        <p:nvSpPr>
          <p:cNvPr id="3095" name="Shape 11">
            <a:extLst>
              <a:ext uri="{FF2B5EF4-FFF2-40B4-BE49-F238E27FC236}">
                <a16:creationId xmlns:a16="http://schemas.microsoft.com/office/drawing/2014/main" id="{B04FE6D5-D357-AC89-B4DD-7B8367E0A003}"/>
              </a:ext>
            </a:extLst>
          </p:cNvPr>
          <p:cNvSpPr/>
          <p:nvPr/>
        </p:nvSpPr>
        <p:spPr>
          <a:xfrm>
            <a:off x="599440" y="3958751"/>
            <a:ext cx="384048" cy="384048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97" name="Image 4" descr="icons/check.png">
            <a:extLst>
              <a:ext uri="{FF2B5EF4-FFF2-40B4-BE49-F238E27FC236}">
                <a16:creationId xmlns:a16="http://schemas.microsoft.com/office/drawing/2014/main" id="{9C66C35A-2A9C-95C1-E8F1-48E1EF699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12" y="4050923"/>
            <a:ext cx="199705" cy="199705"/>
          </a:xfrm>
          <a:prstGeom prst="rect">
            <a:avLst/>
          </a:prstGeom>
        </p:spPr>
      </p:pic>
      <p:sp>
        <p:nvSpPr>
          <p:cNvPr id="3099" name="Text 12">
            <a:extLst>
              <a:ext uri="{FF2B5EF4-FFF2-40B4-BE49-F238E27FC236}">
                <a16:creationId xmlns:a16="http://schemas.microsoft.com/office/drawing/2014/main" id="{3B1E9C01-8493-872C-1A3E-2B7163E5A1C8}"/>
              </a:ext>
            </a:extLst>
          </p:cNvPr>
          <p:cNvSpPr/>
          <p:nvPr/>
        </p:nvSpPr>
        <p:spPr>
          <a:xfrm>
            <a:off x="1148080" y="3958751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implementation of HTML, CSS, JavaScript, PHP and MySQL.</a:t>
            </a:r>
            <a:endParaRPr lang="en-US" sz="1350" dirty="0"/>
          </a:p>
        </p:txBody>
      </p:sp>
      <p:sp>
        <p:nvSpPr>
          <p:cNvPr id="3101" name="Shape 13">
            <a:extLst>
              <a:ext uri="{FF2B5EF4-FFF2-40B4-BE49-F238E27FC236}">
                <a16:creationId xmlns:a16="http://schemas.microsoft.com/office/drawing/2014/main" id="{AF8CD776-6CC1-D49E-A634-8FD5C054039B}"/>
              </a:ext>
            </a:extLst>
          </p:cNvPr>
          <p:cNvSpPr/>
          <p:nvPr/>
        </p:nvSpPr>
        <p:spPr>
          <a:xfrm>
            <a:off x="599440" y="4891439"/>
            <a:ext cx="2743200" cy="0"/>
          </a:xfrm>
          <a:prstGeom prst="line">
            <a:avLst/>
          </a:prstGeom>
          <a:noFill/>
          <a:ln w="19050">
            <a:solidFill>
              <a:srgbClr val="F6D7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03" name="Text 14">
            <a:extLst>
              <a:ext uri="{FF2B5EF4-FFF2-40B4-BE49-F238E27FC236}">
                <a16:creationId xmlns:a16="http://schemas.microsoft.com/office/drawing/2014/main" id="{DDE3EA96-4B21-02D2-4A49-32AF5CBBF4B2}"/>
              </a:ext>
            </a:extLst>
          </p:cNvPr>
          <p:cNvSpPr/>
          <p:nvPr/>
        </p:nvSpPr>
        <p:spPr>
          <a:xfrm>
            <a:off x="599440" y="5120039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105" name="Shape 15">
            <a:extLst>
              <a:ext uri="{FF2B5EF4-FFF2-40B4-BE49-F238E27FC236}">
                <a16:creationId xmlns:a16="http://schemas.microsoft.com/office/drawing/2014/main" id="{63B2751F-601F-2D03-3754-E1676EA7462E}"/>
              </a:ext>
            </a:extLst>
          </p:cNvPr>
          <p:cNvSpPr/>
          <p:nvPr/>
        </p:nvSpPr>
        <p:spPr>
          <a:xfrm>
            <a:off x="8371840" y="5074319"/>
            <a:ext cx="1280160" cy="1280160"/>
          </a:xfrm>
          <a:prstGeom prst="ellipse">
            <a:avLst/>
          </a:prstGeom>
          <a:solidFill>
            <a:srgbClr val="8C3A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07" name="Image 5" descr="icons/question.png">
            <a:extLst>
              <a:ext uri="{FF2B5EF4-FFF2-40B4-BE49-F238E27FC236}">
                <a16:creationId xmlns:a16="http://schemas.microsoft.com/office/drawing/2014/main" id="{66B58614-BD74-2918-AFF1-A1737A88B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9078" y="5381557"/>
            <a:ext cx="665683" cy="665683"/>
          </a:xfrm>
          <a:prstGeom prst="rect">
            <a:avLst/>
          </a:prstGeom>
        </p:spPr>
      </p:pic>
      <p:sp>
        <p:nvSpPr>
          <p:cNvPr id="3109" name="Text 16">
            <a:extLst>
              <a:ext uri="{FF2B5EF4-FFF2-40B4-BE49-F238E27FC236}">
                <a16:creationId xmlns:a16="http://schemas.microsoft.com/office/drawing/2014/main" id="{E74AB093-147A-0206-7CDC-1CF076135144}"/>
              </a:ext>
            </a:extLst>
          </p:cNvPr>
          <p:cNvSpPr/>
          <p:nvPr/>
        </p:nvSpPr>
        <p:spPr>
          <a:xfrm>
            <a:off x="599440" y="5988719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3111" name="Text 17">
            <a:extLst>
              <a:ext uri="{FF2B5EF4-FFF2-40B4-BE49-F238E27FC236}">
                <a16:creationId xmlns:a16="http://schemas.microsoft.com/office/drawing/2014/main" id="{59D1C48B-E616-C482-A3FE-1E41AB1F103E}"/>
              </a:ext>
            </a:extLst>
          </p:cNvPr>
          <p:cNvSpPr/>
          <p:nvPr/>
        </p:nvSpPr>
        <p:spPr>
          <a:xfrm>
            <a:off x="11328095" y="6583079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92587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9047</TotalTime>
  <Words>541</Words>
  <Application>Microsoft Office PowerPoint</Application>
  <PresentationFormat>Widescreen</PresentationFormat>
  <Paragraphs>159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Times New Roman</vt:lpstr>
      <vt:lpstr>Wingdings</vt:lpstr>
      <vt:lpstr>Office Theme</vt:lpstr>
      <vt:lpstr>HomeChef Homemade Foods — A Digital Marketplace for Homemade Food Products  </vt:lpstr>
      <vt:lpstr>Introduction</vt:lpstr>
      <vt:lpstr>Problem Statement &amp; Objectives</vt:lpstr>
      <vt:lpstr>Module 1:User Management Module</vt:lpstr>
      <vt:lpstr>Module 2:Product &amp; Category Module</vt:lpstr>
      <vt:lpstr>Module 3:Shopping &amp; Order Module</vt:lpstr>
      <vt:lpstr>Module 4:Admin Management Module</vt:lpstr>
      <vt:lpstr>System Architecture</vt:lpstr>
      <vt:lpstr>Technologies Used</vt:lpstr>
      <vt:lpstr>User Interface &amp; Admin Dashboard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Dhanush kumar</cp:lastModifiedBy>
  <cp:revision>196</cp:revision>
  <dcterms:created xsi:type="dcterms:W3CDTF">2013-01-27T09:14:16Z</dcterms:created>
  <dcterms:modified xsi:type="dcterms:W3CDTF">2026-09-04T11:00:14Z</dcterms:modified>
  <cp:category/>
</cp:coreProperties>
</file>